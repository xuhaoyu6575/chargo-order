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10136" y="1353145"/>
            <a:ext cx="1723727" cy="41225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06145" y="1387971"/>
            <a:ext cx="1531709" cy="291852"/>
          </a:xfrm>
          <a:prstGeom prst="rect">
            <a:avLst/>
          </a:prstGeom>
          <a:noFill/>
          <a:ln/>
        </p:spPr>
        <p:txBody>
          <a:bodyPr wrap="square" lIns="177800" tIns="50800" rIns="177800" bIns="50800" rtlCol="0" anchor="t"/>
          <a:lstStyle/>
          <a:p>
            <a:pPr algn="ctr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赋能全链路研发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51172" y="1917799"/>
            <a:ext cx="484150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600" dirty="0">
                <a:solidFill>
                  <a:srgbClr val="0EA5E9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AI Coding 研发提效总结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932206" y="2654350"/>
            <a:ext cx="3279588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Cursor IDE + Claude Code 双引擎驱动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84316" y="3105001"/>
            <a:ext cx="29752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Aft>
                <a:spcPts val="2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移动储能机器人运营中心 · 全链路独立系统研发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68650" y="3568452"/>
            <a:ext cx="1157883" cy="32340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70317" y="3603278"/>
            <a:ext cx="954548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78932" y="3568452"/>
            <a:ext cx="1274564" cy="323404"/>
          </a:xfrm>
          <a:prstGeom prst="rect">
            <a:avLst/>
          </a:prstGeom>
          <a:solidFill>
            <a:srgbClr val="F59E0B">
              <a:alpha val="15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79433" y="3603278"/>
            <a:ext cx="1073563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505896" y="3568452"/>
            <a:ext cx="869305" cy="323404"/>
          </a:xfrm>
          <a:prstGeom prst="rect">
            <a:avLst/>
          </a:prstGeom>
          <a:solidFill>
            <a:srgbClr val="8B5CF6">
              <a:alpha val="15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610450" y="3603278"/>
            <a:ext cx="660199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协作驱动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83885" y="152400"/>
            <a:ext cx="665208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01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传统开发的痛点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853976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 AI Coding？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1215926"/>
            <a:ext cx="2607766" cy="3622774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2068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10954" y="1215926"/>
            <a:ext cx="0" cy="3622774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950" y="483393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7000" y="1215926"/>
            <a:ext cx="0" cy="362277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8450" y="1377851"/>
            <a:ext cx="23004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周期长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8450" y="1666726"/>
            <a:ext cx="2300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需求理解、架构设计、编码实现、联调测试，每个环节都需要大量人工时间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8450" y="2060377"/>
            <a:ext cx="2300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独立系统研发通常需要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 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8117" y="1215926"/>
            <a:ext cx="2607766" cy="3622774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68117" y="122068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71121" y="1215926"/>
            <a:ext cx="0" cy="3622774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8117" y="483393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87167" y="1215926"/>
            <a:ext cx="0" cy="3622774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58617" y="1377851"/>
            <a:ext cx="23004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58617" y="1666726"/>
            <a:ext cx="2300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代码、配置文件、DTO 映射、API 文档等重复性工作占比大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58617" y="2060377"/>
            <a:ext cx="2300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工程师价值被低效消耗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28283" y="1215926"/>
            <a:ext cx="2607766" cy="3622774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28283" y="122068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31287" y="1215926"/>
            <a:ext cx="0" cy="3622774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8283" y="4833938"/>
            <a:ext cx="2607766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47333" y="1215926"/>
            <a:ext cx="0" cy="3622774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8783" y="1377851"/>
            <a:ext cx="23004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沟通成本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8783" y="1666726"/>
            <a:ext cx="2300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需求文档 → 设计稿 → 开发 → 联调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18783" y="1888927"/>
            <a:ext cx="2300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多角色交接产生信息丢失和理解偏差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97713" y="152400"/>
            <a:ext cx="753103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02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双引擎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955477"/>
            <a:ext cx="3973562" cy="3883223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9875" y="1117402"/>
            <a:ext cx="1157883" cy="32340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0901" y="1152227"/>
            <a:ext cx="954548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IDE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903958" y="1177528"/>
            <a:ext cx="7394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 + 多模态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69875" y="1593056"/>
            <a:ext cx="3649712" cy="3083719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69875" y="1597819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4825" y="1593056"/>
            <a:ext cx="0" cy="3083719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9875" y="4672013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9400" y="1593056"/>
            <a:ext cx="0" cy="3083719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0426" y="1704082"/>
            <a:ext cx="3418136" cy="1040904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多模态理解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直接读取原型截图、需求文档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精准还原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对比截图逐像素调整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实时预览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边写边看、截图驱动迭代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代码审查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自动发现缺陷与安全漏洞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前后端联调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一键启动、实时调试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33913" y="955477"/>
            <a:ext cx="4002137" cy="3883223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33913" y="960239"/>
            <a:ext cx="4002137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31287" y="955477"/>
            <a:ext cx="0" cy="3883223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33913" y="4833938"/>
            <a:ext cx="4002137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2962" y="955477"/>
            <a:ext cx="0" cy="3883223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4413" y="1117402"/>
            <a:ext cx="1274564" cy="323404"/>
          </a:xfrm>
          <a:prstGeom prst="rect">
            <a:avLst/>
          </a:prstGeom>
          <a:solidFill>
            <a:srgbClr val="F59E0B">
              <a:alpha val="15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5438" y="1152227"/>
            <a:ext cx="1073563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75177" y="1177528"/>
            <a:ext cx="6935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+ 架构规划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24413" y="1593056"/>
            <a:ext cx="3649712" cy="3083719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824413" y="1597819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69362" y="1593056"/>
            <a:ext cx="0" cy="3083719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24413" y="4672013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33938" y="1593056"/>
            <a:ext cx="0" cy="3083719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44963" y="1704082"/>
            <a:ext cx="3418136" cy="1040904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架构规划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技术选型、分层设计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工程骨架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完整项目结构一键生成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后端服务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Controller/Service/Client 三层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元数据提取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DTO 模型 + 字段契约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接口文档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自动生成 API 规范文档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77621" y="152400"/>
            <a:ext cx="773597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03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53901"/>
            <a:ext cx="839419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全链路开发架构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5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移动储能机器人订单分析报表 — 从需求输入到系统交付的完整研发路径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09749" y="936278"/>
            <a:ext cx="36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9302" y="790277"/>
            <a:ext cx="2493466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65027" y="850553"/>
            <a:ext cx="2368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业务需求文档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65027" y="1022003"/>
            <a:ext cx="23684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机器人运营数据看板 7 图表+3 指标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36169" y="790277"/>
            <a:ext cx="2493615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21894" y="850553"/>
            <a:ext cx="23686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原型截图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721894" y="1022003"/>
            <a:ext cx="236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深色科技风 Dashboard ECharts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93185" y="790277"/>
            <a:ext cx="2493615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78910" y="850553"/>
            <a:ext cx="23686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数据字段定义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78910" y="1022003"/>
            <a:ext cx="236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订单/机器人/站点 时间/状态/金额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4904" y="1298079"/>
            <a:ext cx="8394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46534" y="1754981"/>
            <a:ext cx="1209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9302" y="1513880"/>
            <a:ext cx="4537472" cy="685502"/>
          </a:xfrm>
          <a:prstGeom prst="roundRect">
            <a:avLst>
              <a:gd name="adj" fmla="val 5558"/>
            </a:avLst>
          </a:prstGeom>
          <a:solidFill>
            <a:srgbClr val="0F172A"/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65027" y="1574155"/>
            <a:ext cx="44533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多模态理解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65027" y="1732806"/>
            <a:ext cx="2187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需求语义提取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65027" y="1935956"/>
            <a:ext cx="2187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解析文档 → 7 图表需求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6138" y="1732806"/>
            <a:ext cx="2187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原型 UI 解读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86138" y="1935956"/>
            <a:ext cx="2187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截图 → 色彩/布局/间距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05475" y="1754981"/>
            <a:ext cx="103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895826" y="1513880"/>
            <a:ext cx="2790974" cy="685502"/>
          </a:xfrm>
          <a:prstGeom prst="roundRect">
            <a:avLst>
              <a:gd name="adj" fmla="val 5558"/>
            </a:avLst>
          </a:prstGeom>
          <a:solidFill>
            <a:srgbClr val="0F172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81551" y="1574155"/>
            <a:ext cx="26719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架构规划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81551" y="1732806"/>
            <a:ext cx="26719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技术选型 + 分层设计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81551" y="1935956"/>
            <a:ext cx="26719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契约 (8端点) + 目录结构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4904" y="2212032"/>
            <a:ext cx="8394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9188" y="2573834"/>
            <a:ext cx="3222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9302" y="2427833"/>
            <a:ext cx="3664148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165027" y="2488109"/>
            <a:ext cx="35625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 React 18 + Vite 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65027" y="2659559"/>
            <a:ext cx="17553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App.jsx 7 ECharts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936677" y="2659559"/>
            <a:ext cx="1755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api.js Tailwind SVG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19501" y="2592884"/>
            <a:ext cx="1296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22652" y="2427833"/>
            <a:ext cx="3664148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108377" y="2488109"/>
            <a:ext cx="35625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 Spring Boot 3.2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08377" y="2659559"/>
            <a:ext cx="17553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Service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80027" y="2659559"/>
            <a:ext cx="1755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CloudApiClient Mock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74904" y="2935635"/>
            <a:ext cx="8394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4283" y="3297436"/>
            <a:ext cx="2762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9302" y="3151436"/>
            <a:ext cx="1974949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65027" y="3211711"/>
            <a:ext cx="18395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联调验证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65027" y="3383161"/>
            <a:ext cx="18395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端点对接 Mock→Real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105001" y="3297436"/>
            <a:ext cx="103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57401" y="3151436"/>
            <a:ext cx="1974949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343126" y="3211711"/>
            <a:ext cx="18395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代码审查+安全加固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343126" y="3383161"/>
            <a:ext cx="18395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扫描 10 项问题修复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283101" y="3297436"/>
            <a:ext cx="103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435501" y="3151436"/>
            <a:ext cx="1974949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521226" y="3211711"/>
            <a:ext cx="18395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云平台接口文档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521226" y="3383161"/>
            <a:ext cx="18395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cloud_API_doc.md 自动生成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461200" y="3297436"/>
            <a:ext cx="1036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613600" y="3151436"/>
            <a:ext cx="1073200" cy="495151"/>
          </a:xfrm>
          <a:prstGeom prst="roundRect">
            <a:avLst>
              <a:gd name="adj" fmla="val 7695"/>
            </a:avLst>
          </a:prstGeom>
          <a:solidFill>
            <a:srgbClr val="0F172A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690308" y="3211711"/>
            <a:ext cx="919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90308" y="3383161"/>
            <a:ext cx="9197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2-3天 10x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99499" y="152400"/>
            <a:ext cx="75128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04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15040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智能分析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084040" y="430262"/>
            <a:ext cx="922288" cy="32340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195066" y="465088"/>
            <a:ext cx="714241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950" y="879277"/>
            <a:ext cx="3987850" cy="1941612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041202"/>
            <a:ext cx="3737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需求理解与分析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9875" y="1279327"/>
            <a:ext cx="3664000" cy="82510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解析业务文档语义，提取 7 大图表需求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识别数据维度（站点/时间/用户/订单）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提取字段定义与计算逻辑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规划功能优先级与范围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2897088"/>
            <a:ext cx="3987850" cy="1941612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9875" y="3059013"/>
            <a:ext cx="3737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原型 UI 解读还原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9875" y="3297138"/>
            <a:ext cx="3664000" cy="82510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识别截图中的深色科技风布局结构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提取颜色规范 (#050f1e) 与间距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匹配 ECharts 图表类型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还原电路板纹理背景效果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8200" y="879277"/>
            <a:ext cx="40676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关键输出物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48200" y="1133177"/>
            <a:ext cx="780752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33925" y="1155353"/>
            <a:ext cx="6214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功能需求清单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30453" y="1133177"/>
            <a:ext cx="760512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616178" y="1155353"/>
            <a:ext cx="6008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规范提取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392466" y="1133177"/>
            <a:ext cx="821382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78191" y="1155353"/>
            <a:ext cx="66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契约设计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48200" y="1482179"/>
            <a:ext cx="3987850" cy="3356521"/>
          </a:xfrm>
          <a:prstGeom prst="rect">
            <a:avLst/>
          </a:prstGeom>
          <a:solidFill>
            <a:srgbClr val="1E1E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648200" y="1486942"/>
            <a:ext cx="39878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31287" y="1482179"/>
            <a:ext cx="0" cy="3356521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48200" y="4833938"/>
            <a:ext cx="39878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7250" y="1482179"/>
            <a:ext cx="0" cy="3356521"/>
          </a:xfrm>
          <a:prstGeom prst="line">
            <a:avLst/>
          </a:prstGeom>
          <a:noFill/>
          <a:ln w="381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0429" y="1593205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— AI Agent 对话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87801" y="1796355"/>
            <a:ext cx="3737223" cy="279350"/>
          </a:xfrm>
          <a:prstGeom prst="roundRect">
            <a:avLst>
              <a:gd name="adj" fmla="val 13639"/>
            </a:avLst>
          </a:prstGeom>
          <a:solidFill>
            <a:srgbClr val="2D2D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864001" y="1834455"/>
            <a:ext cx="365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B0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请分析原型截图中的布局和颜色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87801" y="2113806"/>
            <a:ext cx="3737223" cy="279350"/>
          </a:xfrm>
          <a:prstGeom prst="roundRect">
            <a:avLst>
              <a:gd name="adj" fmla="val 13639"/>
            </a:avLst>
          </a:prstGeom>
          <a:solidFill>
            <a:srgbClr val="1A26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64001" y="2151906"/>
            <a:ext cx="365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88C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已识别：深色科技风，7个图表模块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87801" y="2431256"/>
            <a:ext cx="3737223" cy="279350"/>
          </a:xfrm>
          <a:prstGeom prst="roundRect">
            <a:avLst>
              <a:gd name="adj" fmla="val 13639"/>
            </a:avLst>
          </a:prstGeom>
          <a:solidFill>
            <a:srgbClr val="1A26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64001" y="2469356"/>
            <a:ext cx="365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Dashboard 完成：StatCard×3 + 7 ECharts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87801" y="2748707"/>
            <a:ext cx="3737223" cy="279350"/>
          </a:xfrm>
          <a:prstGeom prst="roundRect">
            <a:avLst>
              <a:gd name="adj" fmla="val 13639"/>
            </a:avLst>
          </a:prstGeom>
          <a:solidFill>
            <a:srgbClr val="2D2D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64001" y="2786807"/>
            <a:ext cx="365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B0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流程耗时图需要 L 型连接线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7801" y="3066157"/>
            <a:ext cx="3737223" cy="279350"/>
          </a:xfrm>
          <a:prstGeom prst="roundRect">
            <a:avLst>
              <a:gd name="adj" fmla="val 13639"/>
            </a:avLst>
          </a:prstGeom>
          <a:solidFill>
            <a:srgbClr val="1A26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64001" y="3104257"/>
            <a:ext cx="365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88C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 SVG+ResizeObserver 重写 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73157" y="152400"/>
            <a:ext cx="77815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05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264383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 &amp; 工程骨架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1442" y="430262"/>
            <a:ext cx="1274564" cy="323404"/>
          </a:xfrm>
          <a:prstGeom prst="rect">
            <a:avLst/>
          </a:prstGeom>
          <a:solidFill>
            <a:srgbClr val="F59E0B">
              <a:alpha val="15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12468" y="465088"/>
            <a:ext cx="1073563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950" y="879277"/>
            <a:ext cx="3987850" cy="1941612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07950" y="884039"/>
            <a:ext cx="3987850" cy="0"/>
          </a:xfrm>
          <a:prstGeom prst="line">
            <a:avLst/>
          </a:prstGeom>
          <a:noFill/>
          <a:ln w="9525">
            <a:solidFill>
              <a:srgbClr val="0EA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1038" y="879277"/>
            <a:ext cx="0" cy="1941612"/>
          </a:xfrm>
          <a:prstGeom prst="line">
            <a:avLst/>
          </a:prstGeom>
          <a:noFill/>
          <a:ln w="9525">
            <a:solidFill>
              <a:srgbClr val="0EA5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950" y="2816126"/>
            <a:ext cx="3987850" cy="0"/>
          </a:xfrm>
          <a:prstGeom prst="line">
            <a:avLst/>
          </a:prstGeom>
          <a:noFill/>
          <a:ln w="9525">
            <a:solidFill>
              <a:srgbClr val="0EA5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7000" y="879277"/>
            <a:ext cx="0" cy="1941612"/>
          </a:xfrm>
          <a:prstGeom prst="line">
            <a:avLst/>
          </a:prstGeom>
          <a:noFill/>
          <a:ln w="381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1041202"/>
            <a:ext cx="3708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前端工程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8450" y="1279327"/>
            <a:ext cx="659011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175" y="1301502"/>
            <a:ext cx="4973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18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46312" y="1279327"/>
            <a:ext cx="537121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32037" y="1301502"/>
            <a:ext cx="3729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72283" y="1279327"/>
            <a:ext cx="719882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158008" y="1301502"/>
            <a:ext cx="559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ECHARTS 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81015" y="1279327"/>
            <a:ext cx="902643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66740" y="1301502"/>
            <a:ext cx="7458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TAILWIND CSS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98450" y="1577578"/>
            <a:ext cx="3635425" cy="6093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vite.config.js — 构建 + API 代理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App.jsx — 完整 Dashboard 页面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api.js — Axios 服务层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2897088"/>
            <a:ext cx="3987850" cy="1941612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07950" y="2901851"/>
            <a:ext cx="3987850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91038" y="2897088"/>
            <a:ext cx="0" cy="1941612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950" y="4833938"/>
            <a:ext cx="3987850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7000" y="2897088"/>
            <a:ext cx="0" cy="1941612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8450" y="3059013"/>
            <a:ext cx="3708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后端工程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8450" y="3297138"/>
            <a:ext cx="1085552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84175" y="3319314"/>
            <a:ext cx="9323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 3.2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872853" y="3297138"/>
            <a:ext cx="597991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958578" y="3319314"/>
            <a:ext cx="4350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17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559695" y="3297138"/>
            <a:ext cx="476250" cy="247501"/>
          </a:xfrm>
          <a:prstGeom prst="rect">
            <a:avLst/>
          </a:prstGeom>
          <a:noFill/>
          <a:ln w="9525">
            <a:solidFill>
              <a:srgbClr val="F8FA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645420" y="3319314"/>
            <a:ext cx="310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MAVEN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98450" y="3595390"/>
            <a:ext cx="3635425" cy="6093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→ Service → Client 三层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MockClient / RealClient 可切换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Result&lt;T&gt; + GlobalExceptionHandler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48200" y="879277"/>
            <a:ext cx="3987850" cy="395942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48200" y="884039"/>
            <a:ext cx="39878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31287" y="879277"/>
            <a:ext cx="0" cy="3959423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48200" y="4833938"/>
            <a:ext cx="39878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67250" y="879277"/>
            <a:ext cx="0" cy="3959423"/>
          </a:xfrm>
          <a:prstGeom prst="line">
            <a:avLst/>
          </a:prstGeom>
          <a:noFill/>
          <a:ln w="381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0429" y="990302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Terminal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87801" y="1193453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"分析需求，规划系统架构"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787801" y="1396603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━━ 架构方案 ━━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787801" y="1599754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前端: React 18 + Vite 5 + ECharts + Tailwind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87801" y="1802904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后端: Spring Boot 3.2 + Java 17 + Maven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787801" y="2006054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分层: Controller → Service → Client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87801" y="2209205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━━ API 契约（8 端点）━━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787801" y="2412355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F088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/dashboard/stats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总览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787801" y="2615505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F088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/dashboard/completion-rate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完单率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787801" y="2818656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F088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/dashboard/heatmap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热力图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787801" y="3021806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F088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/dashboard/process-time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耗时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787801" y="3224957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80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</a:t>
            </a:r>
            <a:pPr algn="l" indent="0" marL="0">
              <a:lnSpc>
                <a:spcPts val="12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8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"生成后端骨架+Mock数据"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87801" y="3428107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controller/service/client/common 四层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787801" y="3631257"/>
            <a:ext cx="38119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7D85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MockCloudApiClient — 3站×30天仿真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69585" y="152400"/>
            <a:ext cx="78179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06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207395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驱动全栈研发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642741" y="430262"/>
            <a:ext cx="2175867" cy="323404"/>
          </a:xfrm>
          <a:prstGeom prst="rect">
            <a:avLst/>
          </a:prstGeom>
          <a:solidFill>
            <a:srgbClr val="8B5CF6">
              <a:alpha val="15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53767" y="465088"/>
            <a:ext cx="1992892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+ CLAUDE CODE 协作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950" y="879277"/>
            <a:ext cx="3973562" cy="3959423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085404"/>
            <a:ext cx="11660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 Dashboard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52217" y="1041202"/>
            <a:ext cx="867370" cy="326529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3243" y="1098352"/>
            <a:ext cx="658225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69875" y="1494681"/>
            <a:ext cx="3649712" cy="844153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69875" y="1499443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14825" y="1494681"/>
            <a:ext cx="0" cy="844153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875" y="2334071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9400" y="1494681"/>
            <a:ext cx="0" cy="844153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426" y="1605707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个图表组件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90426" y="1796207"/>
            <a:ext cx="6214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完单率环形图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425029" y="1796207"/>
            <a:ext cx="6214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结束原因饼图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59632" y="1796207"/>
            <a:ext cx="5123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热力图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587228" y="1796207"/>
            <a:ext cx="7250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流程耗时堆叠条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23332" y="1796207"/>
            <a:ext cx="6214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取消分析饼图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90426" y="2024658"/>
            <a:ext cx="7250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用户频次柱状图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9875" y="2440335"/>
            <a:ext cx="3649712" cy="81885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69875" y="2445097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14825" y="2440335"/>
            <a:ext cx="0" cy="818852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875" y="3254425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9400" y="2440335"/>
            <a:ext cx="0" cy="81885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426" y="2551361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0426" y="2741861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api.js — Axios + 响应拦截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90426" y="2945011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useState/useEffect 筛选联动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633913" y="879277"/>
            <a:ext cx="4002137" cy="3959423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633913" y="884039"/>
            <a:ext cx="4002137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31287" y="879277"/>
            <a:ext cx="0" cy="3959423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33913" y="4833938"/>
            <a:ext cx="4002137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52962" y="879277"/>
            <a:ext cx="0" cy="3959423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4413" y="1085404"/>
            <a:ext cx="9672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 API 服务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292578" y="1041202"/>
            <a:ext cx="1181546" cy="326529"/>
          </a:xfrm>
          <a:prstGeom prst="rect">
            <a:avLst/>
          </a:prstGeom>
          <a:solidFill>
            <a:srgbClr val="F59E0B">
              <a:alpha val="15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403604" y="1098352"/>
            <a:ext cx="978685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824413" y="1494681"/>
            <a:ext cx="3649712" cy="1022003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4824413" y="1499443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69362" y="1494681"/>
            <a:ext cx="0" cy="1022003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24413" y="2511921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33938" y="1494681"/>
            <a:ext cx="0" cy="1022003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44963" y="1605707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个 REST 端点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944963" y="1796207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/sites · /stats · /completion-rate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944963" y="1999357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/heatmap · /process-time · /end-reasons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944963" y="2202507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/cancel-analysis · /user-frequency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824413" y="2618184"/>
            <a:ext cx="3649712" cy="91410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4824413" y="2622947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69362" y="2618184"/>
            <a:ext cx="0" cy="914102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24413" y="3527524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33938" y="2618184"/>
            <a:ext cx="0" cy="91410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44963" y="2729210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CloudApiClient 抽象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44963" y="2919710"/>
            <a:ext cx="1683693" cy="501551"/>
          </a:xfrm>
          <a:prstGeom prst="roundRect">
            <a:avLst>
              <a:gd name="adj" fmla="val 7596"/>
            </a:avLst>
          </a:prstGeom>
          <a:solidFill>
            <a:srgbClr val="A855F7">
              <a:alpha val="6000"/>
            </a:srgbClr>
          </a:solidFill>
          <a:ln w="9525">
            <a:solidFill>
              <a:srgbClr val="A855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992588" y="2967335"/>
            <a:ext cx="1620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MockClient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992588" y="3170486"/>
            <a:ext cx="1620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高斯仿真数据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79406" y="2919710"/>
            <a:ext cx="1683693" cy="501551"/>
          </a:xfrm>
          <a:prstGeom prst="roundRect">
            <a:avLst>
              <a:gd name="adj" fmla="val 7596"/>
            </a:avLst>
          </a:prstGeom>
          <a:solidFill>
            <a:srgbClr val="3B82F6">
              <a:alpha val="6000"/>
            </a:srgbClr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727031" y="2967335"/>
            <a:ext cx="1620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RealClient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727031" y="3170486"/>
            <a:ext cx="16202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RestTemplate HTTP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824413" y="3583037"/>
            <a:ext cx="3649712" cy="323701"/>
          </a:xfrm>
          <a:prstGeom prst="roundRect">
            <a:avLst>
              <a:gd name="adj" fmla="val 15693"/>
            </a:avLst>
          </a:prstGeom>
          <a:solidFill>
            <a:srgbClr val="10B981">
              <a:alpha val="6000"/>
            </a:srgbClr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910138" y="3643313"/>
            <a:ext cx="50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Result&lt;T&gt;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451872" y="3643313"/>
            <a:ext cx="16492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统一响应 + GlobalExceptionHandler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76295" y="152400"/>
            <a:ext cx="6729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07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接口联调 &amp; 云平台文档输出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930176"/>
            <a:ext cx="3973562" cy="3908524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9875" y="1092101"/>
            <a:ext cx="37227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前后端联调 · 8 个端点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9875" y="1380976"/>
            <a:ext cx="3649712" cy="342751"/>
          </a:xfrm>
          <a:prstGeom prst="roundRect">
            <a:avLst>
              <a:gd name="adj" fmla="val 11116"/>
            </a:avLst>
          </a:prstGeom>
          <a:solidFill>
            <a:srgbClr val="000000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5600" y="1428601"/>
            <a:ext cx="425351" cy="247501"/>
          </a:xfrm>
          <a:prstGeom prst="rect">
            <a:avLst/>
          </a:prstGeom>
          <a:solidFill>
            <a:srgbClr val="3B82F6"/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5876" y="1450777"/>
            <a:ext cx="310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[GET]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31702" y="1450777"/>
            <a:ext cx="12431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/api/dashboard/sites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827711" y="1450777"/>
            <a:ext cx="414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站点列表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9875" y="1761827"/>
            <a:ext cx="3649712" cy="342751"/>
          </a:xfrm>
          <a:prstGeom prst="roundRect">
            <a:avLst>
              <a:gd name="adj" fmla="val 11116"/>
            </a:avLst>
          </a:prstGeom>
          <a:solidFill>
            <a:srgbClr val="000000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5600" y="1809452"/>
            <a:ext cx="425351" cy="247501"/>
          </a:xfrm>
          <a:prstGeom prst="rect">
            <a:avLst/>
          </a:prstGeom>
          <a:solidFill>
            <a:srgbClr val="3B82F6"/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5876" y="1831628"/>
            <a:ext cx="310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[GET]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231702" y="1831628"/>
            <a:ext cx="12431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/api/dashboard/stats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27711" y="1831628"/>
            <a:ext cx="414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总览指标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69875" y="2142679"/>
            <a:ext cx="3649712" cy="342751"/>
          </a:xfrm>
          <a:prstGeom prst="roundRect">
            <a:avLst>
              <a:gd name="adj" fmla="val 11116"/>
            </a:avLst>
          </a:prstGeom>
          <a:solidFill>
            <a:srgbClr val="000000"/>
          </a:solidFill>
          <a:ln w="9525">
            <a:solidFill>
              <a:srgbClr val="1E29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55600" y="2190304"/>
            <a:ext cx="425351" cy="247501"/>
          </a:xfrm>
          <a:prstGeom prst="rect">
            <a:avLst/>
          </a:prstGeom>
          <a:solidFill>
            <a:srgbClr val="3B82F6"/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5876" y="2212479"/>
            <a:ext cx="310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[GET]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31702" y="2212479"/>
            <a:ext cx="18646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0EA5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/api/dashboard/completion-rate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929211" y="2212479"/>
            <a:ext cx="3107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完单率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3378" y="2523530"/>
            <a:ext cx="37227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 + heatmap, process-time, end-reasons, cancel-analysis, user-frequency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9875" y="4353074"/>
            <a:ext cx="3649712" cy="323701"/>
          </a:xfrm>
          <a:prstGeom prst="roundRect">
            <a:avLst>
              <a:gd name="adj" fmla="val 15693"/>
            </a:avLst>
          </a:prstGeom>
          <a:solidFill>
            <a:srgbClr val="00D4FF">
              <a:alpha val="4000"/>
            </a:srgbClr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55600" y="4413349"/>
            <a:ext cx="35478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统一规范: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?siteId=S001&amp;days=7 → Result&lt;T&gt;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633913" y="930176"/>
            <a:ext cx="4002137" cy="3908524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33913" y="934938"/>
            <a:ext cx="4002137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31287" y="930176"/>
            <a:ext cx="0" cy="3908524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33913" y="4833938"/>
            <a:ext cx="4002137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52962" y="930176"/>
            <a:ext cx="0" cy="3908524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4413" y="1092101"/>
            <a:ext cx="37227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云平台接口文档 · AI 自动生成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24413" y="1380976"/>
            <a:ext cx="3649712" cy="1002953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824413" y="1385739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69362" y="1380976"/>
            <a:ext cx="0" cy="1002953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4413" y="2379166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33938" y="1380976"/>
            <a:ext cx="0" cy="1002953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44963" y="1492002"/>
            <a:ext cx="34864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cloud_API_doc.md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44963" y="1663452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/api/orders — 订单流水 (OrderRecord)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44963" y="1866602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/api/robots — 机器人状态 (RobotRecord)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944963" y="2069753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/api/sites — 站点列表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24413" y="2434679"/>
            <a:ext cx="3649712" cy="1022003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824413" y="2439442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69362" y="2434679"/>
            <a:ext cx="0" cy="1022003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24413" y="3451920"/>
            <a:ext cx="3649712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33938" y="2434679"/>
            <a:ext cx="0" cy="1022003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44963" y="2545705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元数据模型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44963" y="2736205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OrderRecord: orderId, siteId, daysAgo,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944963" y="2939355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endReason, actualKwh, userId, xxxMinutes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44963" y="3142506"/>
            <a:ext cx="3486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RobotRecord: vin, siteId, active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824413" y="4353074"/>
            <a:ext cx="3649712" cy="323701"/>
          </a:xfrm>
          <a:prstGeom prst="roundRect">
            <a:avLst>
              <a:gd name="adj" fmla="val 15693"/>
            </a:avLst>
          </a:prstGeom>
          <a:solidFill>
            <a:srgbClr val="F97316">
              <a:alpha val="4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10138" y="4413349"/>
            <a:ext cx="35478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交付给云平台团队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传统开发实现 3 个 API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74496" y="152400"/>
            <a:ext cx="776785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08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30080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代码审查 &amp; 安全加固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58480" y="430262"/>
            <a:ext cx="922288" cy="32340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69506" y="465088"/>
            <a:ext cx="714241" cy="203002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950" y="828526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全量代码扫描，发现 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项问题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（6 P1 高优 + 4 P2 中优），全部自动修复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1139577"/>
            <a:ext cx="3987850" cy="3699123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7950" y="1144339"/>
            <a:ext cx="39878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1038" y="1139577"/>
            <a:ext cx="0" cy="3699123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950" y="4833938"/>
            <a:ext cx="39878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7000" y="1139577"/>
            <a:ext cx="0" cy="3699123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450" y="1301502"/>
            <a:ext cx="3708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高优修复（6 项）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8450" y="1590377"/>
            <a:ext cx="3635425" cy="12948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阻止异常信息泄露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getHeatmap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数组越界防护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getUserFrequency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null userId 过滤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getEndReasons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null endReason 过滤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RestTemplate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超时配置 5s/30s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DashboardController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days 参数校验 1~365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48200" y="1139577"/>
            <a:ext cx="3987850" cy="3699123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48200" y="1144339"/>
            <a:ext cx="3987850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31287" y="1139577"/>
            <a:ext cx="0" cy="3699123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8200" y="4833938"/>
            <a:ext cx="3987850" cy="0"/>
          </a:xfrm>
          <a:prstGeom prst="line">
            <a:avLst/>
          </a:prstGeom>
          <a:noFill/>
          <a:ln w="9525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7250" y="1139577"/>
            <a:ext cx="0" cy="3699123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38700" y="1301502"/>
            <a:ext cx="37081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中优修复（4 项）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38700" y="1590377"/>
            <a:ext cx="3635425" cy="86320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异常处理器顺序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IllegalArgument 优先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CloudApiClient.unwrap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null data 处理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baseUrl 末尾斜杠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trim 防止双斜杠</a:t>
            </a:r>
            <a:endParaRPr lang="en-US" sz="1000" dirty="0"/>
          </a:p>
          <a:p>
            <a:pPr algn="l" marL="101600" indent="-1016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配置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改为配置文件读取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38700" y="4283125"/>
            <a:ext cx="3635425" cy="393650"/>
          </a:xfrm>
          <a:prstGeom prst="roundRect">
            <a:avLst>
              <a:gd name="adj" fmla="val 12905"/>
            </a:avLst>
          </a:prstGeom>
          <a:solidFill>
            <a:srgbClr val="10B981">
              <a:alpha val="6000"/>
            </a:srgbClr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89785" y="4368850"/>
            <a:ext cx="35332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所有修复已验证通过，零回归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69585" y="152400"/>
            <a:ext cx="78179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09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vs 传统开发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065139" y="930176"/>
            <a:ext cx="5013722" cy="3456236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227064" y="1476226"/>
            <a:ext cx="4689872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27064" y="1168301"/>
            <a:ext cx="11658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环节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370064" y="1168301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传统开发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143500" y="1168301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27064" y="2010966"/>
            <a:ext cx="4689872" cy="0"/>
          </a:xfrm>
          <a:prstGeom prst="line">
            <a:avLst/>
          </a:prstGeom>
          <a:noFill/>
          <a:ln w="9525">
            <a:solidFill>
              <a:srgbClr val="1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27064" y="1549152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需求分析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70064" y="1549152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人工阅读文档，多轮会议 — 1~2天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143500" y="1549152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多模态理解，秒级提取 —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分钟级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227064" y="2540943"/>
            <a:ext cx="4689872" cy="0"/>
          </a:xfrm>
          <a:prstGeom prst="line">
            <a:avLst/>
          </a:prstGeom>
          <a:noFill/>
          <a:ln w="9525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27064" y="2079129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还原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70064" y="2079129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设计师切图 → 前端还原 — 3~5天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143500" y="2079129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截图直接生成 React 代码 —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小时级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27064" y="3070920"/>
            <a:ext cx="4689872" cy="0"/>
          </a:xfrm>
          <a:prstGeom prst="line">
            <a:avLst/>
          </a:prstGeom>
          <a:noFill/>
          <a:ln w="9525">
            <a:solidFill>
              <a:srgbClr val="1A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27064" y="2609106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后端开发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70064" y="2609106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手写 Controller/Service/DTO — 3~5天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43500" y="2609106"/>
            <a:ext cx="1808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生成完整三层架构 —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小时级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27064" y="3429446"/>
            <a:ext cx="4689872" cy="0"/>
          </a:xfrm>
          <a:prstGeom prst="line">
            <a:avLst/>
          </a:prstGeom>
          <a:noFill/>
          <a:ln w="9525">
            <a:solidFill>
              <a:srgbClr val="1A3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27064" y="3139083"/>
            <a:ext cx="11658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接口文档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0064" y="3139083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手动编写 API 文档 — 1~2天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43500" y="3139083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从 DTO 自动生成 —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分钟级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227064" y="3787973"/>
            <a:ext cx="4689872" cy="0"/>
          </a:xfrm>
          <a:prstGeom prst="line">
            <a:avLst/>
          </a:prstGeom>
          <a:noFill/>
          <a:ln w="9525">
            <a:solidFill>
              <a:srgbClr val="1A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27064" y="3497610"/>
            <a:ext cx="11658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代码审查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70064" y="3497610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 Code Review — 1~2天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43500" y="3497610"/>
            <a:ext cx="1808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全量扫描+自动修复 — </a:t>
            </a:r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分钟级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27064" y="3868936"/>
            <a:ext cx="1165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70064" y="3868936"/>
            <a:ext cx="1808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2~4 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43500" y="3868936"/>
            <a:ext cx="1808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2~3 天 → 10x 提效 🚀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77363" y="152400"/>
            <a:ext cx="665208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0"/>
              </a:lnSpc>
              <a:spcAft>
                <a:spcPts val="400"/>
              </a:spcAft>
              <a:buNone/>
            </a:pPr>
            <a:r>
              <a:rPr lang="en-US" sz="5600" dirty="0">
                <a:solidFill>
                  <a:srgbClr val="0EA5E9">
                    <a:alpha val="6000"/>
                  </a:srgbClr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10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3717037" y="1109811"/>
            <a:ext cx="170977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核心成果数据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918692" y="1684437"/>
            <a:ext cx="916484" cy="1377851"/>
          </a:xfrm>
          <a:prstGeom prst="rect">
            <a:avLst/>
          </a:prstGeom>
          <a:solidFill>
            <a:srgbClr val="0F172A"/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74691" y="1846362"/>
            <a:ext cx="6044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400"/>
              </a:spcAft>
              <a:buNone/>
            </a:pPr>
            <a:r>
              <a:rPr lang="en-US" sz="3200" dirty="0">
                <a:solidFill>
                  <a:srgbClr val="0EA5E9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74691" y="2506712"/>
            <a:ext cx="60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图表模块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987576" y="1684437"/>
            <a:ext cx="945207" cy="1377851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987576" y="1689199"/>
            <a:ext cx="945207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28021" y="1684437"/>
            <a:ext cx="0" cy="1377851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87576" y="3057525"/>
            <a:ext cx="945207" cy="0"/>
          </a:xfrm>
          <a:prstGeom prst="line">
            <a:avLst/>
          </a:prstGeom>
          <a:noFill/>
          <a:ln w="9525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06626" y="1684437"/>
            <a:ext cx="0" cy="137785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2148" y="1846362"/>
            <a:ext cx="60463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400"/>
              </a:spcAft>
              <a:buNone/>
            </a:pPr>
            <a:r>
              <a:rPr lang="en-US" sz="3200" dirty="0">
                <a:solidFill>
                  <a:srgbClr val="3B82F6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172148" y="2506712"/>
            <a:ext cx="6046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接口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85183" y="1684437"/>
            <a:ext cx="945059" cy="1377851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085183" y="1689199"/>
            <a:ext cx="945059" cy="0"/>
          </a:xfrm>
          <a:prstGeom prst="line">
            <a:avLst/>
          </a:prstGeom>
          <a:noFill/>
          <a:ln w="9525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5479" y="1684437"/>
            <a:ext cx="0" cy="1377851"/>
          </a:xfrm>
          <a:prstGeom prst="line">
            <a:avLst/>
          </a:prstGeom>
          <a:noFill/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85183" y="3057525"/>
            <a:ext cx="945059" cy="0"/>
          </a:xfrm>
          <a:prstGeom prst="line">
            <a:avLst/>
          </a:prstGeom>
          <a:noFill/>
          <a:ln w="9525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4233" y="1684437"/>
            <a:ext cx="0" cy="1377851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9757" y="1846362"/>
            <a:ext cx="6044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400"/>
              </a:spcAft>
              <a:buNone/>
            </a:pPr>
            <a:r>
              <a:rPr lang="en-US" sz="3200" dirty="0">
                <a:solidFill>
                  <a:srgbClr val="10B98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69757" y="2506712"/>
            <a:ext cx="60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云平台对接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82642" y="1684437"/>
            <a:ext cx="945207" cy="1377851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182642" y="1689199"/>
            <a:ext cx="945207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3087" y="1684437"/>
            <a:ext cx="0" cy="1377851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82642" y="3057525"/>
            <a:ext cx="945207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01692" y="1684437"/>
            <a:ext cx="0" cy="1377851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67214" y="1846362"/>
            <a:ext cx="60463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400"/>
              </a:spcAft>
              <a:buNone/>
            </a:pPr>
            <a:r>
              <a:rPr lang="en-US" sz="3200" dirty="0">
                <a:solidFill>
                  <a:srgbClr val="EF4444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10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5367214" y="2506712"/>
            <a:ext cx="6046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安全缺陷修复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80249" y="1684437"/>
            <a:ext cx="945059" cy="1377851"/>
          </a:xfrm>
          <a:prstGeom prst="rect">
            <a:avLst/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280249" y="1689199"/>
            <a:ext cx="945059" cy="0"/>
          </a:xfrm>
          <a:prstGeom prst="line">
            <a:avLst/>
          </a:prstGeom>
          <a:noFill/>
          <a:ln w="9525">
            <a:solidFill>
              <a:srgbClr val="8B5C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0545" y="1684437"/>
            <a:ext cx="0" cy="1377851"/>
          </a:xfrm>
          <a:prstGeom prst="line">
            <a:avLst/>
          </a:prstGeom>
          <a:noFill/>
          <a:ln w="9525">
            <a:solidFill>
              <a:srgbClr val="8B5CF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80249" y="3057525"/>
            <a:ext cx="945059" cy="0"/>
          </a:xfrm>
          <a:prstGeom prst="line">
            <a:avLst/>
          </a:prstGeom>
          <a:noFill/>
          <a:ln w="9525">
            <a:solidFill>
              <a:srgbClr val="8B5C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99299" y="1684437"/>
            <a:ext cx="0" cy="1377851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4823" y="1846362"/>
            <a:ext cx="6044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400"/>
              </a:spcAft>
              <a:buNone/>
            </a:pPr>
            <a:r>
              <a:rPr lang="en-US" sz="3200" dirty="0">
                <a:solidFill>
                  <a:srgbClr val="8B5CF6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10x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464823" y="2506712"/>
            <a:ext cx="604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研发效率提升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7950" y="3316188"/>
            <a:ext cx="3987850" cy="81885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507950" y="3320951"/>
            <a:ext cx="3987850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91038" y="3316188"/>
            <a:ext cx="0" cy="818852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950" y="4130278"/>
            <a:ext cx="3987850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7475" y="3316188"/>
            <a:ext cx="0" cy="81885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8501" y="342721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前端交付物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28501" y="361771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App.jsx · 7 个 ECharts 图表 · ProcessTimeChart 自定义 SVG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8501" y="382086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api.js 服务层 · circuit-bg.svg 电路板背景 · Tailwind 响应式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648200" y="3316188"/>
            <a:ext cx="3987850" cy="818852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4648200" y="3320951"/>
            <a:ext cx="3987850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31287" y="3316188"/>
            <a:ext cx="0" cy="818852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48200" y="4130278"/>
            <a:ext cx="3987850" cy="0"/>
          </a:xfrm>
          <a:prstGeom prst="line">
            <a:avLst/>
          </a:prstGeom>
          <a:noFill/>
          <a:ln w="9525">
            <a:solidFill>
              <a:srgbClr val="1E293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57725" y="3316188"/>
            <a:ext cx="0" cy="81885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68751" y="342721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后端交付物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68751" y="361771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DashboardController/Service · CloudApiClient 抽象层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768751" y="3820864"/>
            <a:ext cx="383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MockClient 仿真 · Result&lt;T&gt; · GlobalExceptionHandler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0EA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1188" y="1005780"/>
            <a:ext cx="2041624" cy="412254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644018" y="1040606"/>
            <a:ext cx="1855964" cy="291852"/>
          </a:xfrm>
          <a:prstGeom prst="rect">
            <a:avLst/>
          </a:prstGeom>
          <a:noFill/>
          <a:ln/>
        </p:spPr>
        <p:txBody>
          <a:bodyPr wrap="square" lIns="177800" tIns="50800" rIns="177800" bIns="50800" rtlCol="0" anchor="t"/>
          <a:lstStyle/>
          <a:p>
            <a:pPr algn="ctr" indent="0" marL="0">
              <a:lnSpc>
                <a:spcPts val="15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贯穿全程的 AI 核心能力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73425" y="1595735"/>
            <a:ext cx="27970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000" dirty="0">
                <a:solidFill>
                  <a:srgbClr val="0EA5E9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AI 不仅能写代码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55584" y="2294186"/>
            <a:ext cx="898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多模态理解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55584" y="249421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读截图 · 读文档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055584" y="269736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 UI 布局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071241" y="2900511"/>
            <a:ext cx="867370" cy="354955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75814" y="2986088"/>
            <a:ext cx="658225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0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089045" y="2294186"/>
            <a:ext cx="8988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全栈生成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89045" y="2494211"/>
            <a:ext cx="8988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前端+后端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089045" y="2697361"/>
            <a:ext cx="8988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一步到位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27487" y="2900511"/>
            <a:ext cx="621953" cy="354955"/>
          </a:xfrm>
          <a:prstGeom prst="rect">
            <a:avLst/>
          </a:prstGeom>
          <a:solidFill>
            <a:srgbClr val="8B5CF6">
              <a:alpha val="15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34513" y="2986088"/>
            <a:ext cx="407899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0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122658" y="2294186"/>
            <a:ext cx="898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元数据驱动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22658" y="249421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字段契约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22658" y="269736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接口文档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31469" y="2900511"/>
            <a:ext cx="881063" cy="488156"/>
          </a:xfrm>
          <a:prstGeom prst="rect">
            <a:avLst/>
          </a:prstGeom>
          <a:solidFill>
            <a:srgbClr val="F59E0B">
              <a:alpha val="15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235904" y="2986088"/>
            <a:ext cx="672191" cy="317004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0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156119" y="2294186"/>
            <a:ext cx="8988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截图调试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56119" y="2494211"/>
            <a:ext cx="8988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精准修复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56119" y="2697361"/>
            <a:ext cx="8988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分钟级迭代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71777" y="2900511"/>
            <a:ext cx="867370" cy="354955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76350" y="2986088"/>
            <a:ext cx="658225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0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89732" y="2294186"/>
            <a:ext cx="898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安全审查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89732" y="249421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漏洞检测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89732" y="2697361"/>
            <a:ext cx="8986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自动修复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05389" y="2900511"/>
            <a:ext cx="867370" cy="354955"/>
          </a:xfrm>
          <a:prstGeom prst="rect">
            <a:avLst/>
          </a:prstGeom>
          <a:solidFill>
            <a:srgbClr val="0EA5E9">
              <a:alpha val="15000"/>
            </a:srgbClr>
          </a:solidFill>
          <a:ln w="9525">
            <a:solidFill>
              <a:srgbClr val="0EA5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09961" y="2986088"/>
            <a:ext cx="658225" cy="183803"/>
          </a:xfrm>
          <a:prstGeom prst="rect">
            <a:avLst/>
          </a:prstGeom>
          <a:noFill/>
          <a:ln/>
        </p:spPr>
        <p:txBody>
          <a:bodyPr wrap="square" lIns="101600" tIns="25400" rIns="101600" bIns="25400" rtlCol="0" anchor="t"/>
          <a:lstStyle/>
          <a:p>
            <a:pPr algn="ctr" indent="0" marL="0">
              <a:lnSpc>
                <a:spcPts val="10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04083" y="3642568"/>
            <a:ext cx="3535835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更能理解需求、设计架构、生成文档、审查安全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982694" y="3940820"/>
            <a:ext cx="1178612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驱动全链路研发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Coding 研发提效总结</dc:title>
  <dc:subject>PptxGenJS Presentation</dc:subject>
  <dc:creator>AI Coding Team</dc:creator>
  <cp:lastModifiedBy>AI Coding Team</cp:lastModifiedBy>
  <cp:revision>1</cp:revision>
  <dcterms:created xsi:type="dcterms:W3CDTF">2026-03-12T08:39:00Z</dcterms:created>
  <dcterms:modified xsi:type="dcterms:W3CDTF">2026-03-12T08:39:00Z</dcterms:modified>
</cp:coreProperties>
</file>