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57761" y="1353145"/>
            <a:ext cx="1628477" cy="412254"/>
          </a:xfrm>
          <a:prstGeom prst="roundRect">
            <a:avLst>
              <a:gd name="adj" fmla="val 9242"/>
            </a:avLst>
          </a:prstGeom>
          <a:solidFill>
            <a:srgbClr val="007ACC">
              <a:alpha val="20000"/>
            </a:srgbClr>
          </a:solidFill>
          <a:ln w="9525">
            <a:solidFill>
              <a:srgbClr val="007A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54723" y="1387971"/>
            <a:ext cx="1434554" cy="291852"/>
          </a:xfrm>
          <a:prstGeom prst="rect">
            <a:avLst/>
          </a:prstGeom>
          <a:noFill/>
          <a:ln/>
        </p:spPr>
        <p:txBody>
          <a:bodyPr wrap="square" lIns="177800" tIns="50800" rIns="177800" bIns="50800" rtlCol="0" anchor="t"/>
          <a:lstStyle/>
          <a:p>
            <a:pPr algn="ctr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赋能全链路研发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51172" y="1917799"/>
            <a:ext cx="484150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3600" dirty="0">
                <a:solidFill>
                  <a:srgbClr val="00D4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AI Coding 研发提效总结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932206" y="2654350"/>
            <a:ext cx="3279588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spcAft>
                <a:spcPts val="1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Cursor IDE + Claude Code 双引擎驱动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84316" y="3105001"/>
            <a:ext cx="29752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spcAft>
                <a:spcPts val="20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移动储能机器人运营中心 · 全链路独立系统研发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87712" y="3568452"/>
            <a:ext cx="1062633" cy="323404"/>
          </a:xfrm>
          <a:prstGeom prst="roundRect">
            <a:avLst>
              <a:gd name="adj" fmla="val 11781"/>
            </a:avLst>
          </a:prstGeom>
          <a:solidFill>
            <a:srgbClr val="007ACC">
              <a:alpha val="20000"/>
            </a:srgbClr>
          </a:solidFill>
          <a:ln w="9525">
            <a:solidFill>
              <a:srgbClr val="007A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990332" y="3603278"/>
            <a:ext cx="857393" cy="203002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IDE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02745" y="3568452"/>
            <a:ext cx="1169789" cy="323404"/>
          </a:xfrm>
          <a:prstGeom prst="roundRect">
            <a:avLst>
              <a:gd name="adj" fmla="val 11781"/>
            </a:avLst>
          </a:prstGeom>
          <a:solidFill>
            <a:srgbClr val="D97706">
              <a:alpha val="20000"/>
            </a:srgbClr>
          </a:solidFill>
          <a:ln w="9525">
            <a:solidFill>
              <a:srgbClr val="D9770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204293" y="3603278"/>
            <a:ext cx="966692" cy="203002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24934" y="3568452"/>
            <a:ext cx="831205" cy="323404"/>
          </a:xfrm>
          <a:prstGeom prst="roundRect">
            <a:avLst>
              <a:gd name="adj" fmla="val 11781"/>
            </a:avLst>
          </a:prstGeom>
          <a:solidFill>
            <a:srgbClr val="A78BFA">
              <a:alpha val="15000"/>
            </a:srgbClr>
          </a:solidFill>
          <a:ln w="9525">
            <a:solidFill>
              <a:srgbClr val="A78BF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29868" y="3603278"/>
            <a:ext cx="621337" cy="203002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协作驱动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077051" y="101501"/>
            <a:ext cx="570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spcAft>
                <a:spcPts val="400"/>
              </a:spcAft>
              <a:buNone/>
            </a:pPr>
            <a:r>
              <a:rPr lang="en-US" sz="4800" dirty="0">
                <a:solidFill>
                  <a:srgbClr val="00D4FF">
                    <a:alpha val="5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7950" y="40630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传统开发的痛点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853976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为什么需要 AI Coding？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7950" y="1215926"/>
            <a:ext cx="2607766" cy="3622774"/>
          </a:xfrm>
          <a:prstGeom prst="roundRect">
            <a:avLst>
              <a:gd name="adj" fmla="val 2922"/>
            </a:avLst>
          </a:prstGeom>
          <a:solidFill>
            <a:srgbClr val="0B1F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07950" y="1220688"/>
            <a:ext cx="2607766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10954" y="1215926"/>
            <a:ext cx="0" cy="3622774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7950" y="4833938"/>
            <a:ext cx="2607766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7000" y="1215926"/>
            <a:ext cx="0" cy="3622774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8450" y="1377851"/>
            <a:ext cx="230044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周期长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8450" y="1666726"/>
            <a:ext cx="23004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需求理解、架构设计、编码实现、联调测试，每个环节都需要大量人工时间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98450" y="2060377"/>
            <a:ext cx="2300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独立系统研发通常需要 </a:t>
            </a:r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 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68117" y="1215926"/>
            <a:ext cx="2607766" cy="3622774"/>
          </a:xfrm>
          <a:prstGeom prst="roundRect">
            <a:avLst>
              <a:gd name="adj" fmla="val 2922"/>
            </a:avLst>
          </a:prstGeom>
          <a:solidFill>
            <a:srgbClr val="0B1F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268117" y="1220688"/>
            <a:ext cx="2607766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71121" y="1215926"/>
            <a:ext cx="0" cy="3622774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68117" y="4833938"/>
            <a:ext cx="2607766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87167" y="1215926"/>
            <a:ext cx="0" cy="3622774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8617" y="1377851"/>
            <a:ext cx="230044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重复高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58617" y="1666726"/>
            <a:ext cx="23004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代码、配置文件、DTO 映射、API 文档等重复性工作占比大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58617" y="2060377"/>
            <a:ext cx="2300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工程师价值被低效消耗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28283" y="1215926"/>
            <a:ext cx="2607766" cy="3622774"/>
          </a:xfrm>
          <a:prstGeom prst="roundRect">
            <a:avLst>
              <a:gd name="adj" fmla="val 2922"/>
            </a:avLst>
          </a:prstGeom>
          <a:solidFill>
            <a:srgbClr val="0B1F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028283" y="1220688"/>
            <a:ext cx="2607766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31287" y="1215926"/>
            <a:ext cx="0" cy="3622774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28283" y="4833938"/>
            <a:ext cx="2607766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47333" y="1215926"/>
            <a:ext cx="0" cy="3622774"/>
          </a:xfrm>
          <a:prstGeom prst="line">
            <a:avLst/>
          </a:prstGeom>
          <a:noFill/>
          <a:ln w="381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8783" y="1377851"/>
            <a:ext cx="230044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沟通成本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18783" y="1666726"/>
            <a:ext cx="2300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需求文档 → 设计稿 → 开发 → 联调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8783" y="1888927"/>
            <a:ext cx="2300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多角色交接产生信息丢失和理解偏差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003232" y="101501"/>
            <a:ext cx="6454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spcAft>
                <a:spcPts val="400"/>
              </a:spcAft>
              <a:buNone/>
            </a:pPr>
            <a:r>
              <a:rPr lang="en-US" sz="4800" dirty="0">
                <a:solidFill>
                  <a:srgbClr val="00D4FF">
                    <a:alpha val="5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7950" y="40630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双引擎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955477"/>
            <a:ext cx="3987850" cy="3883223"/>
          </a:xfrm>
          <a:prstGeom prst="roundRect">
            <a:avLst>
              <a:gd name="adj" fmla="val 1962"/>
            </a:avLst>
          </a:prstGeom>
          <a:solidFill>
            <a:srgbClr val="0B1F38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9875" y="1117402"/>
            <a:ext cx="1062633" cy="323404"/>
          </a:xfrm>
          <a:prstGeom prst="roundRect">
            <a:avLst>
              <a:gd name="adj" fmla="val 11781"/>
            </a:avLst>
          </a:prstGeom>
          <a:solidFill>
            <a:srgbClr val="007ACC">
              <a:alpha val="20000"/>
            </a:srgbClr>
          </a:solidFill>
          <a:ln w="9525">
            <a:solidFill>
              <a:srgbClr val="007A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0901" y="1152227"/>
            <a:ext cx="857393" cy="203002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IDE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08708" y="1177528"/>
            <a:ext cx="7394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 + 多模态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69875" y="1593056"/>
            <a:ext cx="3664000" cy="3083719"/>
          </a:xfrm>
          <a:prstGeom prst="roundRect">
            <a:avLst>
              <a:gd name="adj" fmla="val 1647"/>
            </a:avLst>
          </a:prstGeom>
          <a:solidFill>
            <a:srgbClr val="020C18"/>
          </a:solidFill>
          <a:ln w="9525">
            <a:solidFill>
              <a:srgbClr val="1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0901" y="1704082"/>
            <a:ext cx="3441948" cy="1040904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多模态理解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直接读取原型截图、需求文档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精准还原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对比截图逐像素调整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实时预览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边写边看、截图驱动迭代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代码审查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自动发现缺陷与安全漏洞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前后端联调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一键启动、实时调试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48200" y="955477"/>
            <a:ext cx="3987850" cy="3883223"/>
          </a:xfrm>
          <a:prstGeom prst="roundRect">
            <a:avLst>
              <a:gd name="adj" fmla="val 1962"/>
            </a:avLst>
          </a:prstGeom>
          <a:solidFill>
            <a:srgbClr val="0B1F38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10125" y="1117402"/>
            <a:ext cx="1169789" cy="323404"/>
          </a:xfrm>
          <a:prstGeom prst="roundRect">
            <a:avLst>
              <a:gd name="adj" fmla="val 11781"/>
            </a:avLst>
          </a:prstGeom>
          <a:solidFill>
            <a:srgbClr val="D97706">
              <a:alpha val="20000"/>
            </a:srgbClr>
          </a:solidFill>
          <a:ln w="9525">
            <a:solidFill>
              <a:srgbClr val="D9770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21151" y="1152227"/>
            <a:ext cx="966692" cy="203002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56114" y="1177528"/>
            <a:ext cx="6935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+ 架构规划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10125" y="1593056"/>
            <a:ext cx="3664000" cy="3083719"/>
          </a:xfrm>
          <a:prstGeom prst="roundRect">
            <a:avLst>
              <a:gd name="adj" fmla="val 1647"/>
            </a:avLst>
          </a:prstGeom>
          <a:solidFill>
            <a:srgbClr val="020C18"/>
          </a:solidFill>
          <a:ln w="9525">
            <a:solidFill>
              <a:srgbClr val="1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21151" y="1704082"/>
            <a:ext cx="3441948" cy="1040904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架构规划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技术选型、分层设计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工程骨架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完整项目结构一键生成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后端服务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Controller/Service/Client 三层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元数据提取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DTO 模型 + 字段契约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接口文档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自动生成 API 规范文档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985968" y="101501"/>
            <a:ext cx="66308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spcAft>
                <a:spcPts val="400"/>
              </a:spcAft>
              <a:buNone/>
            </a:pPr>
            <a:r>
              <a:rPr lang="en-US" sz="4800" dirty="0">
                <a:solidFill>
                  <a:srgbClr val="00D4FF">
                    <a:alpha val="5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7950" y="40630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全链路开发流程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853976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个阶段，从需求到交付，AI 贯穿始终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7950" y="1184077"/>
            <a:ext cx="903089" cy="0"/>
          </a:xfrm>
          <a:prstGeom prst="line">
            <a:avLst/>
          </a:prstGeom>
          <a:noFill/>
          <a:ln w="381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4726" y="1253877"/>
            <a:ext cx="8695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需求输入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24726" y="1457027"/>
            <a:ext cx="8695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文档+截图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411039" y="1165027"/>
            <a:ext cx="903238" cy="545902"/>
          </a:xfrm>
          <a:prstGeom prst="rect">
            <a:avLst/>
          </a:prstGeom>
          <a:solidFill>
            <a:srgbClr val="00D4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411039" y="1184077"/>
            <a:ext cx="903238" cy="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7814" y="1253877"/>
            <a:ext cx="8696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AI 分析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427814" y="1457027"/>
            <a:ext cx="8696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314277" y="1165027"/>
            <a:ext cx="903089" cy="545902"/>
          </a:xfrm>
          <a:prstGeom prst="rect">
            <a:avLst/>
          </a:prstGeom>
          <a:solidFill>
            <a:srgbClr val="00D4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314277" y="1184077"/>
            <a:ext cx="903089" cy="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053" y="1253877"/>
            <a:ext cx="8695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架构生成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331053" y="1457027"/>
            <a:ext cx="8695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17366" y="1165027"/>
            <a:ext cx="903238" cy="545902"/>
          </a:xfrm>
          <a:prstGeom prst="rect">
            <a:avLst/>
          </a:prstGeom>
          <a:solidFill>
            <a:srgbClr val="00D4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217366" y="1184077"/>
            <a:ext cx="903238" cy="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34141" y="1253877"/>
            <a:ext cx="8696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全栈研发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34141" y="1457027"/>
            <a:ext cx="8696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协作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120604" y="1184077"/>
            <a:ext cx="903089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37380" y="1253877"/>
            <a:ext cx="8695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联调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37380" y="1457027"/>
            <a:ext cx="8695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协作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23693" y="1165027"/>
            <a:ext cx="903089" cy="545902"/>
          </a:xfrm>
          <a:prstGeom prst="rect">
            <a:avLst/>
          </a:prstGeom>
          <a:solidFill>
            <a:srgbClr val="00D4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023693" y="1184077"/>
            <a:ext cx="903089" cy="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0469" y="1253877"/>
            <a:ext cx="8695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接口设计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40469" y="1457027"/>
            <a:ext cx="8695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26782" y="1184077"/>
            <a:ext cx="903089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558" y="1253877"/>
            <a:ext cx="8695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云平台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943558" y="1457027"/>
            <a:ext cx="8695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29871" y="1165027"/>
            <a:ext cx="903089" cy="545902"/>
          </a:xfrm>
          <a:prstGeom prst="rect">
            <a:avLst/>
          </a:prstGeom>
          <a:solidFill>
            <a:srgbClr val="EF4444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6829871" y="1184077"/>
            <a:ext cx="903089" cy="0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46647" y="1253877"/>
            <a:ext cx="8695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代码审查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846647" y="1457027"/>
            <a:ext cx="8695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732961" y="1165027"/>
            <a:ext cx="903089" cy="545902"/>
          </a:xfrm>
          <a:prstGeom prst="rect">
            <a:avLst/>
          </a:prstGeom>
          <a:solidFill>
            <a:srgbClr val="10B981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7732961" y="1184077"/>
            <a:ext cx="903089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49736" y="1253877"/>
            <a:ext cx="8695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交付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749736" y="1457027"/>
            <a:ext cx="8695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完整系统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7950" y="1888629"/>
            <a:ext cx="1955899" cy="663327"/>
          </a:xfrm>
          <a:prstGeom prst="roundRect">
            <a:avLst>
              <a:gd name="adj" fmla="val 7658"/>
            </a:avLst>
          </a:prstGeom>
          <a:solidFill>
            <a:srgbClr val="020C18"/>
          </a:solidFill>
          <a:ln w="9525">
            <a:solidFill>
              <a:srgbClr val="1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01638" y="1999655"/>
            <a:ext cx="17685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多模态理解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01638" y="2237780"/>
            <a:ext cx="176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读截图 · 读文档 · 读代码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565350" y="1888629"/>
            <a:ext cx="1955899" cy="663327"/>
          </a:xfrm>
          <a:prstGeom prst="roundRect">
            <a:avLst>
              <a:gd name="adj" fmla="val 7658"/>
            </a:avLst>
          </a:prstGeom>
          <a:solidFill>
            <a:srgbClr val="020C18"/>
          </a:solidFill>
          <a:ln w="9525">
            <a:solidFill>
              <a:srgbClr val="1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2659038" y="1999655"/>
            <a:ext cx="17685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全栈代码生成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659038" y="2237780"/>
            <a:ext cx="176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前端+后端一步到位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622750" y="1888629"/>
            <a:ext cx="1955899" cy="663327"/>
          </a:xfrm>
          <a:prstGeom prst="roundRect">
            <a:avLst>
              <a:gd name="adj" fmla="val 7658"/>
            </a:avLst>
          </a:prstGeom>
          <a:solidFill>
            <a:srgbClr val="020C18"/>
          </a:solidFill>
          <a:ln w="9525">
            <a:solidFill>
              <a:srgbClr val="1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716438" y="1999655"/>
            <a:ext cx="17685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元数据驱动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716438" y="2237780"/>
            <a:ext cx="176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DTO→接口→文档自动化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680150" y="1888629"/>
            <a:ext cx="1955899" cy="663327"/>
          </a:xfrm>
          <a:prstGeom prst="roundRect">
            <a:avLst>
              <a:gd name="adj" fmla="val 7658"/>
            </a:avLst>
          </a:prstGeom>
          <a:solidFill>
            <a:srgbClr val="020C18"/>
          </a:solidFill>
          <a:ln w="9525">
            <a:solidFill>
              <a:srgbClr val="1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773838" y="1999655"/>
            <a:ext cx="17685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安全审查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773838" y="2237780"/>
            <a:ext cx="1768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漏洞检测 · 自动修复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004721" y="101501"/>
            <a:ext cx="6439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spcAft>
                <a:spcPts val="400"/>
              </a:spcAft>
              <a:buNone/>
            </a:pPr>
            <a:r>
              <a:rPr lang="en-US" sz="4800" dirty="0">
                <a:solidFill>
                  <a:srgbClr val="00D4FF">
                    <a:alpha val="5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7950" y="406301"/>
            <a:ext cx="150408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智能分析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084040" y="430262"/>
            <a:ext cx="865138" cy="323404"/>
          </a:xfrm>
          <a:prstGeom prst="roundRect">
            <a:avLst>
              <a:gd name="adj" fmla="val 11781"/>
            </a:avLst>
          </a:prstGeom>
          <a:solidFill>
            <a:srgbClr val="007ACC">
              <a:alpha val="20000"/>
            </a:srgbClr>
          </a:solidFill>
          <a:ln w="9525">
            <a:solidFill>
              <a:srgbClr val="007A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195066" y="465088"/>
            <a:ext cx="655948" cy="203002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7950" y="879277"/>
            <a:ext cx="3987850" cy="1941612"/>
          </a:xfrm>
          <a:prstGeom prst="roundRect">
            <a:avLst>
              <a:gd name="adj" fmla="val 3925"/>
            </a:avLst>
          </a:prstGeom>
          <a:solidFill>
            <a:srgbClr val="0B1F38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9875" y="1041202"/>
            <a:ext cx="37372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需求理解与分析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9875" y="1279327"/>
            <a:ext cx="3664000" cy="82510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解析业务文档语义，提取 7 大图表需求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识别数据维度（站点/时间/用户/订单）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提取字段定义与计算逻辑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规划功能优先级与范围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950" y="2897088"/>
            <a:ext cx="3987850" cy="1941612"/>
          </a:xfrm>
          <a:prstGeom prst="roundRect">
            <a:avLst>
              <a:gd name="adj" fmla="val 3925"/>
            </a:avLst>
          </a:prstGeom>
          <a:solidFill>
            <a:srgbClr val="0B1F38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9875" y="3059013"/>
            <a:ext cx="37372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原型 UI 解读还原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9875" y="3297138"/>
            <a:ext cx="3664000" cy="82510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识别截图中的深色科技风布局结构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提取颜色规范 (#050f1e) 与间距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匹配 ECharts 图表类型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还原电路板纹理背景效果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48200" y="879277"/>
            <a:ext cx="40676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关键输出物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48200" y="1133177"/>
            <a:ext cx="780752" cy="247501"/>
          </a:xfrm>
          <a:prstGeom prst="roundRect">
            <a:avLst>
              <a:gd name="adj" fmla="val 51313"/>
            </a:avLst>
          </a:prstGeom>
          <a:noFill/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33925" y="1155353"/>
            <a:ext cx="6214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功能需求清单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30453" y="1133177"/>
            <a:ext cx="707380" cy="247501"/>
          </a:xfrm>
          <a:prstGeom prst="roundRect">
            <a:avLst>
              <a:gd name="adj" fmla="val 51313"/>
            </a:avLst>
          </a:prstGeom>
          <a:noFill/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16178" y="1155353"/>
            <a:ext cx="5466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规范提取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339334" y="1133177"/>
            <a:ext cx="775097" cy="247501"/>
          </a:xfrm>
          <a:prstGeom prst="roundRect">
            <a:avLst>
              <a:gd name="adj" fmla="val 51313"/>
            </a:avLst>
          </a:prstGeom>
          <a:noFill/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25059" y="1155353"/>
            <a:ext cx="615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契约设计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48200" y="1482179"/>
            <a:ext cx="3987850" cy="3356521"/>
          </a:xfrm>
          <a:prstGeom prst="roundRect">
            <a:avLst>
              <a:gd name="adj" fmla="val 2270"/>
            </a:avLst>
          </a:prstGeom>
          <a:solidFill>
            <a:srgbClr val="1E1E1E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21568" y="1593205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— AI Agent 对话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59226" y="1796355"/>
            <a:ext cx="3765798" cy="279350"/>
          </a:xfrm>
          <a:prstGeom prst="roundRect">
            <a:avLst>
              <a:gd name="adj" fmla="val 13639"/>
            </a:avLst>
          </a:prstGeom>
          <a:solidFill>
            <a:srgbClr val="2D2D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35426" y="1834455"/>
            <a:ext cx="36856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B0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请分析原型截图中的布局和颜色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9226" y="2113806"/>
            <a:ext cx="3765798" cy="279350"/>
          </a:xfrm>
          <a:prstGeom prst="roundRect">
            <a:avLst>
              <a:gd name="adj" fmla="val 13639"/>
            </a:avLst>
          </a:prstGeom>
          <a:solidFill>
            <a:srgbClr val="1A26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35426" y="2151906"/>
            <a:ext cx="36856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88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已识别：深色科技风，7个图表模块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59226" y="2431256"/>
            <a:ext cx="3765798" cy="279350"/>
          </a:xfrm>
          <a:prstGeom prst="roundRect">
            <a:avLst>
              <a:gd name="adj" fmla="val 13639"/>
            </a:avLst>
          </a:prstGeom>
          <a:solidFill>
            <a:srgbClr val="1A26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35426" y="2469356"/>
            <a:ext cx="36856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Dashboard 完成：StatCard×3 + 7 ECharts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59226" y="2748707"/>
            <a:ext cx="3765798" cy="279350"/>
          </a:xfrm>
          <a:prstGeom prst="roundRect">
            <a:avLst>
              <a:gd name="adj" fmla="val 13639"/>
            </a:avLst>
          </a:prstGeom>
          <a:solidFill>
            <a:srgbClr val="2D2D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35426" y="2786807"/>
            <a:ext cx="36856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B0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流程耗时图需要 L 型连接线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59226" y="3066157"/>
            <a:ext cx="3765798" cy="279350"/>
          </a:xfrm>
          <a:prstGeom prst="roundRect">
            <a:avLst>
              <a:gd name="adj" fmla="val 13639"/>
            </a:avLst>
          </a:prstGeom>
          <a:solidFill>
            <a:srgbClr val="1A26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35426" y="3104257"/>
            <a:ext cx="36856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88C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已用 SVG+ResizeObserver 重写 ✅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982099" y="101501"/>
            <a:ext cx="66703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spcAft>
                <a:spcPts val="400"/>
              </a:spcAft>
              <a:buNone/>
            </a:pPr>
            <a:r>
              <a:rPr lang="en-US" sz="4800" dirty="0">
                <a:solidFill>
                  <a:srgbClr val="00D4FF">
                    <a:alpha val="5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05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7950" y="406301"/>
            <a:ext cx="264383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 &amp; 工程骨架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1442" y="430262"/>
            <a:ext cx="1169789" cy="323404"/>
          </a:xfrm>
          <a:prstGeom prst="roundRect">
            <a:avLst>
              <a:gd name="adj" fmla="val 11781"/>
            </a:avLst>
          </a:prstGeom>
          <a:solidFill>
            <a:srgbClr val="D97706">
              <a:alpha val="20000"/>
            </a:srgbClr>
          </a:solidFill>
          <a:ln w="9525">
            <a:solidFill>
              <a:srgbClr val="D9770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12468" y="465088"/>
            <a:ext cx="966692" cy="203002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7950" y="879277"/>
            <a:ext cx="3987850" cy="1941612"/>
          </a:xfrm>
          <a:prstGeom prst="roundRect">
            <a:avLst>
              <a:gd name="adj" fmla="val 3925"/>
            </a:avLst>
          </a:prstGeom>
          <a:solidFill>
            <a:srgbClr val="0B1F38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9875" y="1041202"/>
            <a:ext cx="37372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前端工程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9875" y="1279327"/>
            <a:ext cx="589211" cy="247501"/>
          </a:xfrm>
          <a:prstGeom prst="roundRect">
            <a:avLst>
              <a:gd name="adj" fmla="val 51313"/>
            </a:avLst>
          </a:prstGeom>
          <a:noFill/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55600" y="1301502"/>
            <a:ext cx="4261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47936" y="1279327"/>
            <a:ext cx="440531" cy="247501"/>
          </a:xfrm>
          <a:prstGeom prst="roundRect">
            <a:avLst>
              <a:gd name="adj" fmla="val 51313"/>
            </a:avLst>
          </a:prstGeom>
          <a:noFill/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433661" y="1301502"/>
            <a:ext cx="2744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5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877318" y="1279327"/>
            <a:ext cx="645616" cy="247501"/>
          </a:xfrm>
          <a:prstGeom prst="roundRect">
            <a:avLst>
              <a:gd name="adj" fmla="val 51313"/>
            </a:avLst>
          </a:prstGeom>
          <a:noFill/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963043" y="1301502"/>
            <a:ext cx="483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ECharts 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611785" y="1279327"/>
            <a:ext cx="807095" cy="247501"/>
          </a:xfrm>
          <a:prstGeom prst="roundRect">
            <a:avLst>
              <a:gd name="adj" fmla="val 51313"/>
            </a:avLst>
          </a:prstGeom>
          <a:noFill/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697510" y="1301502"/>
            <a:ext cx="6483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69875" y="1577578"/>
            <a:ext cx="3664000" cy="60930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vite.config.js — 构建 + API 代理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App.jsx — 完整 Dashboard 页面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api.js — Axios 服务层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950" y="2897088"/>
            <a:ext cx="3987850" cy="1941612"/>
          </a:xfrm>
          <a:prstGeom prst="roundRect">
            <a:avLst>
              <a:gd name="adj" fmla="val 3925"/>
            </a:avLst>
          </a:prstGeom>
          <a:solidFill>
            <a:srgbClr val="0B1F38"/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69875" y="3059013"/>
            <a:ext cx="37372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后端工程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9875" y="3297138"/>
            <a:ext cx="921841" cy="247501"/>
          </a:xfrm>
          <a:prstGeom prst="roundRect">
            <a:avLst>
              <a:gd name="adj" fmla="val 51313"/>
            </a:avLst>
          </a:prstGeom>
          <a:noFill/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55600" y="3319314"/>
            <a:ext cx="7653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3.2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680567" y="3297138"/>
            <a:ext cx="538609" cy="247501"/>
          </a:xfrm>
          <a:prstGeom prst="roundRect">
            <a:avLst>
              <a:gd name="adj" fmla="val 51313"/>
            </a:avLst>
          </a:prstGeom>
          <a:noFill/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766292" y="3319314"/>
            <a:ext cx="3745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17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308027" y="3297138"/>
            <a:ext cx="487561" cy="247501"/>
          </a:xfrm>
          <a:prstGeom prst="roundRect">
            <a:avLst>
              <a:gd name="adj" fmla="val 51313"/>
            </a:avLst>
          </a:prstGeom>
          <a:noFill/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393752" y="3319314"/>
            <a:ext cx="3224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Maven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69875" y="3595390"/>
            <a:ext cx="3664000" cy="60930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→ Service → Client 三层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MockClient / RealClient 可切换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Result&lt;T&gt; + GlobalExceptionHandler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48200" y="879277"/>
            <a:ext cx="3987850" cy="3959423"/>
          </a:xfrm>
          <a:prstGeom prst="roundRect">
            <a:avLst>
              <a:gd name="adj" fmla="val 1925"/>
            </a:avLst>
          </a:prstGeom>
          <a:solidFill>
            <a:srgbClr val="0D1117"/>
          </a:solidFill>
          <a:ln w="9525">
            <a:solidFill>
              <a:srgbClr val="3333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21568" y="990302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— Terminal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59226" y="1193453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"分析需求，规划系统架构"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59226" y="1396603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8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━━ 架构方案 ━━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59226" y="1599754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前端: React 18 + Vite 5 + ECharts + Tailwind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59226" y="1802904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后端: Spring Boot 3.2 + Java 17 + Maven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59226" y="2006054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分层: Controller → Service → Client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59226" y="2209205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8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━━ API 契约（8 端点）━━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59226" y="2412355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/dashboard/stats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总览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59226" y="2615505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/dashboard/completion-rate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完单率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59226" y="2818656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/dashboard/heatmap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热力图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59226" y="3021806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/dashboard/process-time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耗时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59226" y="3224957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8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</a:t>
            </a:r>
            <a:pPr algn="l" indent="0" marL="0">
              <a:lnSpc>
                <a:spcPts val="12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8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"生成后端骨架+Mock数据"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59226" y="3428107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controller/service/client/common 四层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59226" y="3631257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7D8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MockCloudApiClient — 3站×30天仿真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979122" y="101501"/>
            <a:ext cx="6700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spcAft>
                <a:spcPts val="400"/>
              </a:spcAft>
              <a:buNone/>
            </a:pPr>
            <a:r>
              <a:rPr lang="en-US" sz="4800" dirty="0">
                <a:solidFill>
                  <a:srgbClr val="00D4FF">
                    <a:alpha val="5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06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7950" y="406301"/>
            <a:ext cx="207395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驱动全栈研发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642741" y="430262"/>
            <a:ext cx="1956792" cy="323404"/>
          </a:xfrm>
          <a:prstGeom prst="roundRect">
            <a:avLst>
              <a:gd name="adj" fmla="val 11781"/>
            </a:avLst>
          </a:prstGeom>
          <a:solidFill>
            <a:srgbClr val="A78BFA">
              <a:alpha val="15000"/>
            </a:srgbClr>
          </a:solidFill>
          <a:ln w="9525">
            <a:solidFill>
              <a:srgbClr val="A78BF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53767" y="465088"/>
            <a:ext cx="1769435" cy="203002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+ CLAUDE CODE 协作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7950" y="879277"/>
            <a:ext cx="3987850" cy="3959423"/>
          </a:xfrm>
          <a:prstGeom prst="roundRect">
            <a:avLst>
              <a:gd name="adj" fmla="val 1925"/>
            </a:avLst>
          </a:prstGeom>
          <a:solidFill>
            <a:srgbClr val="0B1F38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9875" y="1085404"/>
            <a:ext cx="11660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 Dashboard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23655" y="1041202"/>
            <a:ext cx="810220" cy="326529"/>
          </a:xfrm>
          <a:prstGeom prst="roundRect">
            <a:avLst>
              <a:gd name="adj" fmla="val 11668"/>
            </a:avLst>
          </a:prstGeom>
          <a:solidFill>
            <a:srgbClr val="007ACC">
              <a:alpha val="20000"/>
            </a:srgbClr>
          </a:solidFill>
          <a:ln w="9525">
            <a:solidFill>
              <a:srgbClr val="007A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34680" y="1098352"/>
            <a:ext cx="599932" cy="183803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t"/>
          <a:lstStyle/>
          <a:p>
            <a:pPr algn="l" indent="0" marL="0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69875" y="1494681"/>
            <a:ext cx="3664000" cy="844153"/>
          </a:xfrm>
          <a:prstGeom prst="roundRect">
            <a:avLst>
              <a:gd name="adj" fmla="val 6018"/>
            </a:avLst>
          </a:prstGeom>
          <a:solidFill>
            <a:srgbClr val="020C18"/>
          </a:solidFill>
          <a:ln w="9525">
            <a:solidFill>
              <a:srgbClr val="1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80901" y="1605707"/>
            <a:ext cx="3510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个图表组件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80901" y="1796207"/>
            <a:ext cx="6214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完单率环形图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415504" y="1796207"/>
            <a:ext cx="6214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结束原因饼图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050107" y="1796207"/>
            <a:ext cx="5123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24h 热力图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77703" y="1796207"/>
            <a:ext cx="7250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流程耗时堆叠条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13807" y="1796207"/>
            <a:ext cx="6214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取消分析饼图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80901" y="2024658"/>
            <a:ext cx="7250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用户频次柱状图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69875" y="2440335"/>
            <a:ext cx="3664000" cy="818852"/>
          </a:xfrm>
          <a:prstGeom prst="roundRect">
            <a:avLst>
              <a:gd name="adj" fmla="val 6204"/>
            </a:avLst>
          </a:prstGeom>
          <a:solidFill>
            <a:srgbClr val="020C18"/>
          </a:solidFill>
          <a:ln w="9525">
            <a:solidFill>
              <a:srgbClr val="1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80901" y="2551361"/>
            <a:ext cx="3510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服务层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0901" y="2741861"/>
            <a:ext cx="3510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api.js — Axios + 响应拦截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80901" y="2945011"/>
            <a:ext cx="3510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useState/useEffect 筛选联动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48200" y="879277"/>
            <a:ext cx="3987850" cy="3959423"/>
          </a:xfrm>
          <a:prstGeom prst="roundRect">
            <a:avLst>
              <a:gd name="adj" fmla="val 1925"/>
            </a:avLst>
          </a:prstGeom>
          <a:solidFill>
            <a:srgbClr val="0B1F38"/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10125" y="1085404"/>
            <a:ext cx="9672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 API 服务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97353" y="1041202"/>
            <a:ext cx="1076771" cy="326529"/>
          </a:xfrm>
          <a:prstGeom prst="roundRect">
            <a:avLst>
              <a:gd name="adj" fmla="val 11668"/>
            </a:avLst>
          </a:prstGeom>
          <a:solidFill>
            <a:srgbClr val="D97706">
              <a:alpha val="20000"/>
            </a:srgbClr>
          </a:solidFill>
          <a:ln w="9525">
            <a:solidFill>
              <a:srgbClr val="D9770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508379" y="1098352"/>
            <a:ext cx="871814" cy="183803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t"/>
          <a:lstStyle/>
          <a:p>
            <a:pPr algn="l" indent="0" marL="0">
              <a:lnSpc>
                <a:spcPts val="1050"/>
              </a:lnSpc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810125" y="1494681"/>
            <a:ext cx="3664000" cy="1022003"/>
          </a:xfrm>
          <a:prstGeom prst="roundRect">
            <a:avLst>
              <a:gd name="adj" fmla="val 4971"/>
            </a:avLst>
          </a:prstGeom>
          <a:solidFill>
            <a:srgbClr val="020C18"/>
          </a:solidFill>
          <a:ln w="9525">
            <a:solidFill>
              <a:srgbClr val="1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21151" y="1605707"/>
            <a:ext cx="3510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个 REST 端点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21151" y="1796207"/>
            <a:ext cx="3510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/sites · /stats · /completion-rate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21151" y="1999357"/>
            <a:ext cx="3510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/heatmap · /process-time · /end-reasons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921151" y="2202507"/>
            <a:ext cx="3510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/cancel-analysis · /user-frequency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10125" y="2618184"/>
            <a:ext cx="3664000" cy="914102"/>
          </a:xfrm>
          <a:prstGeom prst="roundRect">
            <a:avLst>
              <a:gd name="adj" fmla="val 5557"/>
            </a:avLst>
          </a:prstGeom>
          <a:solidFill>
            <a:srgbClr val="020C18"/>
          </a:solidFill>
          <a:ln w="9525">
            <a:solidFill>
              <a:srgbClr val="1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921151" y="2729210"/>
            <a:ext cx="3510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CloudApiClient 抽象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21151" y="2919710"/>
            <a:ext cx="1695599" cy="501551"/>
          </a:xfrm>
          <a:prstGeom prst="roundRect">
            <a:avLst>
              <a:gd name="adj" fmla="val 7596"/>
            </a:avLst>
          </a:prstGeom>
          <a:solidFill>
            <a:srgbClr val="A855F7">
              <a:alpha val="6000"/>
            </a:srgbClr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968776" y="2967335"/>
            <a:ext cx="16323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MockClient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968776" y="3170486"/>
            <a:ext cx="16323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高斯仿真数据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667500" y="2919710"/>
            <a:ext cx="1695599" cy="501551"/>
          </a:xfrm>
          <a:prstGeom prst="roundRect">
            <a:avLst>
              <a:gd name="adj" fmla="val 7596"/>
            </a:avLst>
          </a:prstGeom>
          <a:solidFill>
            <a:srgbClr val="3B82F6">
              <a:alpha val="6000"/>
            </a:srgbClr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715125" y="2967335"/>
            <a:ext cx="16323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RealClient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715125" y="3170486"/>
            <a:ext cx="16323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RestTemplate HTTP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10125" y="3583037"/>
            <a:ext cx="3664000" cy="323701"/>
          </a:xfrm>
          <a:prstGeom prst="roundRect">
            <a:avLst>
              <a:gd name="adj" fmla="val 15693"/>
            </a:avLst>
          </a:prstGeom>
          <a:solidFill>
            <a:srgbClr val="10B981">
              <a:alpha val="6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895850" y="3643313"/>
            <a:ext cx="5008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Result&lt;T&gt;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37584" y="3643313"/>
            <a:ext cx="16492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统一响应 + GlobalExceptionHandler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070503" y="101501"/>
            <a:ext cx="5768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spcAft>
                <a:spcPts val="400"/>
              </a:spcAft>
              <a:buNone/>
            </a:pPr>
            <a:r>
              <a:rPr lang="en-US" sz="4800" dirty="0">
                <a:solidFill>
                  <a:srgbClr val="00D4FF">
                    <a:alpha val="5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07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7950" y="40630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接口联调 &amp; 云平台文档输出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930176"/>
            <a:ext cx="3987850" cy="3908524"/>
          </a:xfrm>
          <a:prstGeom prst="roundRect">
            <a:avLst>
              <a:gd name="adj" fmla="val 1950"/>
            </a:avLst>
          </a:prstGeom>
          <a:solidFill>
            <a:srgbClr val="0B1F38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9875" y="1092101"/>
            <a:ext cx="37372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前后端联调 · 8 个端点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9875" y="1380976"/>
            <a:ext cx="3664000" cy="323701"/>
          </a:xfrm>
          <a:prstGeom prst="roundRect">
            <a:avLst>
              <a:gd name="adj" fmla="val 11770"/>
            </a:avLst>
          </a:prstGeom>
          <a:solidFill>
            <a:srgbClr val="020C18"/>
          </a:solidFill>
          <a:ln w="9525">
            <a:solidFill>
              <a:srgbClr val="1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5600" y="1428601"/>
            <a:ext cx="310307" cy="228451"/>
          </a:xfrm>
          <a:prstGeom prst="roundRect">
            <a:avLst>
              <a:gd name="adj" fmla="val 11118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6351" y="1441252"/>
            <a:ext cx="2129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16657" y="1441252"/>
            <a:ext cx="12431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/api/dashboard/sites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41998" y="1441252"/>
            <a:ext cx="414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站点列表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69875" y="1742777"/>
            <a:ext cx="3664000" cy="323701"/>
          </a:xfrm>
          <a:prstGeom prst="roundRect">
            <a:avLst>
              <a:gd name="adj" fmla="val 11770"/>
            </a:avLst>
          </a:prstGeom>
          <a:solidFill>
            <a:srgbClr val="020C18"/>
          </a:solidFill>
          <a:ln w="9525">
            <a:solidFill>
              <a:srgbClr val="1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55600" y="1790402"/>
            <a:ext cx="310307" cy="228451"/>
          </a:xfrm>
          <a:prstGeom prst="roundRect">
            <a:avLst>
              <a:gd name="adj" fmla="val 11118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06351" y="1803053"/>
            <a:ext cx="2129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16657" y="1803053"/>
            <a:ext cx="12431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/api/dashboard/stats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841998" y="1803053"/>
            <a:ext cx="414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总览指标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69875" y="2104579"/>
            <a:ext cx="3664000" cy="323701"/>
          </a:xfrm>
          <a:prstGeom prst="roundRect">
            <a:avLst>
              <a:gd name="adj" fmla="val 11770"/>
            </a:avLst>
          </a:prstGeom>
          <a:solidFill>
            <a:srgbClr val="020C18"/>
          </a:solidFill>
          <a:ln w="9525">
            <a:solidFill>
              <a:srgbClr val="1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55600" y="2152204"/>
            <a:ext cx="310307" cy="228451"/>
          </a:xfrm>
          <a:prstGeom prst="roundRect">
            <a:avLst>
              <a:gd name="adj" fmla="val 11118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06351" y="2164854"/>
            <a:ext cx="2129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16657" y="2164854"/>
            <a:ext cx="18646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/api/dashboard/completion-rate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943499" y="2164854"/>
            <a:ext cx="3107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完单率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33235" y="2466380"/>
            <a:ext cx="37372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 + heatmap, process-time, end-reasons, cancel-analysis, user-frequency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69875" y="4353074"/>
            <a:ext cx="3664000" cy="323701"/>
          </a:xfrm>
          <a:prstGeom prst="roundRect">
            <a:avLst>
              <a:gd name="adj" fmla="val 15693"/>
            </a:avLst>
          </a:prstGeom>
          <a:solidFill>
            <a:srgbClr val="00D4FF">
              <a:alpha val="4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55600" y="4413349"/>
            <a:ext cx="35624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统一规范: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?siteId=S001&amp;days=7 → Result&lt;T&gt;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48200" y="930176"/>
            <a:ext cx="3987850" cy="3908524"/>
          </a:xfrm>
          <a:prstGeom prst="roundRect">
            <a:avLst>
              <a:gd name="adj" fmla="val 1950"/>
            </a:avLst>
          </a:prstGeom>
          <a:solidFill>
            <a:srgbClr val="0B1F38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10125" y="1092101"/>
            <a:ext cx="37372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云平台接口文档 · AI 自动生成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10125" y="1380976"/>
            <a:ext cx="3664000" cy="1002953"/>
          </a:xfrm>
          <a:prstGeom prst="roundRect">
            <a:avLst>
              <a:gd name="adj" fmla="val 5065"/>
            </a:avLst>
          </a:prstGeom>
          <a:solidFill>
            <a:srgbClr val="020C18"/>
          </a:solidFill>
          <a:ln w="9525">
            <a:solidFill>
              <a:srgbClr val="1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21151" y="1492002"/>
            <a:ext cx="35107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cloud_API_doc.md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21151" y="1663452"/>
            <a:ext cx="3510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/api/orders — 订单流水 (OrderRecord)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21151" y="1866602"/>
            <a:ext cx="3510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/api/robots — 机器人状态 (RobotRecord)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921151" y="2069753"/>
            <a:ext cx="3510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/api/sites — 站点列表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10125" y="2434679"/>
            <a:ext cx="3664000" cy="1022003"/>
          </a:xfrm>
          <a:prstGeom prst="roundRect">
            <a:avLst>
              <a:gd name="adj" fmla="val 4971"/>
            </a:avLst>
          </a:prstGeom>
          <a:solidFill>
            <a:srgbClr val="020C18"/>
          </a:solidFill>
          <a:ln w="9525">
            <a:solidFill>
              <a:srgbClr val="1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921151" y="2545705"/>
            <a:ext cx="3510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DTO 元数据模型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21151" y="2736205"/>
            <a:ext cx="3510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OrderRecord: orderId, siteId, daysAgo,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921151" y="2939355"/>
            <a:ext cx="3510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endReason, actualKwh, userId, xxxMinutes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921151" y="3142506"/>
            <a:ext cx="3510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RobotRecord: vin, siteId, active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10125" y="4353074"/>
            <a:ext cx="3664000" cy="323701"/>
          </a:xfrm>
          <a:prstGeom prst="roundRect">
            <a:avLst>
              <a:gd name="adj" fmla="val 15693"/>
            </a:avLst>
          </a:prstGeom>
          <a:solidFill>
            <a:srgbClr val="F97316">
              <a:alpha val="4000"/>
            </a:srgbClr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95850" y="4413349"/>
            <a:ext cx="356240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交付给云平台团队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传统开发实现 3 个 API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983289" y="101501"/>
            <a:ext cx="6658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spcAft>
                <a:spcPts val="400"/>
              </a:spcAft>
              <a:buNone/>
            </a:pPr>
            <a:r>
              <a:rPr lang="en-US" sz="4800" dirty="0">
                <a:solidFill>
                  <a:srgbClr val="00D4FF">
                    <a:alpha val="5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08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7950" y="406301"/>
            <a:ext cx="300801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代码审查 &amp; 安全加固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558480" y="430262"/>
            <a:ext cx="865138" cy="323404"/>
          </a:xfrm>
          <a:prstGeom prst="roundRect">
            <a:avLst>
              <a:gd name="adj" fmla="val 11781"/>
            </a:avLst>
          </a:prstGeom>
          <a:solidFill>
            <a:srgbClr val="007ACC">
              <a:alpha val="20000"/>
            </a:srgbClr>
          </a:solidFill>
          <a:ln w="9525">
            <a:solidFill>
              <a:srgbClr val="007A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69506" y="465088"/>
            <a:ext cx="655948" cy="203002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7950" y="828526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全量代码扫描，发现 </a:t>
            </a:r>
            <a:pPr algn="l" indent="0" marL="0">
              <a:lnSpc>
                <a:spcPts val="165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项问题</a:t>
            </a:r>
            <a:pPr algn="l" indent="0" marL="0">
              <a:lnSpc>
                <a:spcPts val="165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（6 P1 高优 + 4 P2 中优），全部自动修复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950" y="1139577"/>
            <a:ext cx="3987850" cy="3699123"/>
          </a:xfrm>
          <a:prstGeom prst="roundRect">
            <a:avLst>
              <a:gd name="adj" fmla="val 2060"/>
            </a:avLst>
          </a:prstGeom>
          <a:solidFill>
            <a:srgbClr val="0B1F38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9875" y="1301502"/>
            <a:ext cx="37372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高优修复（6 项）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9875" y="1590377"/>
            <a:ext cx="3664000" cy="129480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GlobalExceptionHandler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阻止异常信息泄露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getHeatmap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数组越界防护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getUserFrequency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null userId 过滤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getEndReasons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null endReason 过滤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RestTemplate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超时配置 5s/30s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DashboardController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days 参数校验 1~365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48200" y="1139577"/>
            <a:ext cx="3987850" cy="3699123"/>
          </a:xfrm>
          <a:prstGeom prst="roundRect">
            <a:avLst>
              <a:gd name="adj" fmla="val 2060"/>
            </a:avLst>
          </a:prstGeom>
          <a:solidFill>
            <a:srgbClr val="0B1F38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10125" y="1301502"/>
            <a:ext cx="37372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中优修复（4 项）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10125" y="1590377"/>
            <a:ext cx="3664000" cy="86320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异常处理器顺序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IllegalArgument 优先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CloudApiClient.unwrap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null data 处理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baseUrl 末尾斜杠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trim 防止双斜杠</a:t>
            </a:r>
            <a:endParaRPr lang="en-US" sz="1000" dirty="0"/>
          </a:p>
          <a:p>
            <a:pPr algn="l" marL="101600" indent="-101600">
              <a:lnSpc>
                <a:spcPts val="14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配置</a:t>
            </a:r>
            <a:pPr algn="l" indent="0" marL="0">
              <a:lnSpc>
                <a:spcPts val="14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改为配置文件读取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10125" y="4283125"/>
            <a:ext cx="3664000" cy="393650"/>
          </a:xfrm>
          <a:prstGeom prst="roundRect">
            <a:avLst>
              <a:gd name="adj" fmla="val 12905"/>
            </a:avLst>
          </a:prstGeom>
          <a:solidFill>
            <a:srgbClr val="10B981">
              <a:alpha val="6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60925" y="4368850"/>
            <a:ext cx="35624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所有修复已验证通过，零回归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979122" y="101501"/>
            <a:ext cx="6700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spcAft>
                <a:spcPts val="400"/>
              </a:spcAft>
              <a:buNone/>
            </a:pPr>
            <a:r>
              <a:rPr lang="en-US" sz="4800" dirty="0">
                <a:solidFill>
                  <a:srgbClr val="00D4FF">
                    <a:alpha val="5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09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7950" y="406301"/>
            <a:ext cx="829066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vs 传统开发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065139" y="930176"/>
            <a:ext cx="5013722" cy="3456236"/>
          </a:xfrm>
          <a:prstGeom prst="roundRect">
            <a:avLst>
              <a:gd name="adj" fmla="val 2205"/>
            </a:avLst>
          </a:prstGeom>
          <a:solidFill>
            <a:srgbClr val="0B1F38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227064" y="1476226"/>
            <a:ext cx="4689872" cy="0"/>
          </a:xfrm>
          <a:prstGeom prst="line">
            <a:avLst/>
          </a:prstGeom>
          <a:noFill/>
          <a:ln w="1905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27064" y="1168301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环节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70064" y="1168301"/>
            <a:ext cx="1808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传统开发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143500" y="1168301"/>
            <a:ext cx="1808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27064" y="2010966"/>
            <a:ext cx="4689872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27064" y="1549152"/>
            <a:ext cx="11658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需求分析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70064" y="1549152"/>
            <a:ext cx="18089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人工阅读文档，多轮会议 — 1~2天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143500" y="1549152"/>
            <a:ext cx="18089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多模态理解，秒级提取 — </a:t>
            </a:r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分钟级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27064" y="2540943"/>
            <a:ext cx="4689872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27064" y="2079129"/>
            <a:ext cx="11658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还原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70064" y="2079129"/>
            <a:ext cx="18089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设计师切图 → 前端还原 — 3~5天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43500" y="2079129"/>
            <a:ext cx="18089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截图直接生成 React 代码 — </a:t>
            </a:r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小时级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27064" y="3070920"/>
            <a:ext cx="4689872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27064" y="2609106"/>
            <a:ext cx="11658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后端开发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70064" y="2609106"/>
            <a:ext cx="18089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手写 Controller/Service/DTO — 3~5天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143500" y="2609106"/>
            <a:ext cx="18089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生成完整三层架构 — </a:t>
            </a:r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小时级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27064" y="3429446"/>
            <a:ext cx="4689872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27064" y="3139083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接口文档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70064" y="3139083"/>
            <a:ext cx="1808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手动编写 API 文档 — 1~2天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43500" y="3139083"/>
            <a:ext cx="1808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从 DTO 自动生成 — </a:t>
            </a:r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分钟级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27064" y="3787973"/>
            <a:ext cx="4689872" cy="0"/>
          </a:xfrm>
          <a:prstGeom prst="line">
            <a:avLst/>
          </a:prstGeom>
          <a:noFill/>
          <a:ln w="9525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27064" y="3497610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代码审查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70064" y="3497610"/>
            <a:ext cx="1808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 Code Review — 1~2天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43500" y="3497610"/>
            <a:ext cx="1808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全量扫描+自动修复 — </a:t>
            </a:r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分钟级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227064" y="3868936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总计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70064" y="3868936"/>
            <a:ext cx="1808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2~4 周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43500" y="3868936"/>
            <a:ext cx="1808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2~3 天 → 10x 提效 🚀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071461" y="101501"/>
            <a:ext cx="570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spcAft>
                <a:spcPts val="400"/>
              </a:spcAft>
              <a:buNone/>
            </a:pPr>
            <a:r>
              <a:rPr lang="en-US" sz="4800" dirty="0">
                <a:solidFill>
                  <a:srgbClr val="00D4FF">
                    <a:alpha val="5000"/>
                  </a:srgbClr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717037" y="1148060"/>
            <a:ext cx="170977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核心成果数据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975842" y="1722686"/>
            <a:ext cx="916484" cy="1301502"/>
          </a:xfrm>
          <a:prstGeom prst="roundRect">
            <a:avLst>
              <a:gd name="adj" fmla="val 8314"/>
            </a:avLst>
          </a:prstGeom>
          <a:solidFill>
            <a:srgbClr val="0B1F38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131841" y="1884611"/>
            <a:ext cx="604486" cy="533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00D4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131841" y="2468612"/>
            <a:ext cx="6044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图表模块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44726" y="1722686"/>
            <a:ext cx="916632" cy="1301502"/>
          </a:xfrm>
          <a:prstGeom prst="roundRect">
            <a:avLst>
              <a:gd name="adj" fmla="val 8313"/>
            </a:avLst>
          </a:prstGeom>
          <a:solidFill>
            <a:srgbClr val="0B1F38"/>
          </a:solidFill>
          <a:ln w="9525">
            <a:solidFill>
              <a:srgbClr val="3B82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00723" y="1884611"/>
            <a:ext cx="604638" cy="533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3B82F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8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723" y="2468612"/>
            <a:ext cx="6046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接口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3758" y="1722686"/>
            <a:ext cx="916484" cy="1301502"/>
          </a:xfrm>
          <a:prstGeom prst="roundRect">
            <a:avLst>
              <a:gd name="adj" fmla="val 8314"/>
            </a:avLst>
          </a:prstGeom>
          <a:solidFill>
            <a:srgbClr val="0B1F38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269757" y="1884611"/>
            <a:ext cx="604486" cy="533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10B98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269757" y="2468612"/>
            <a:ext cx="6044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云平台对接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182642" y="1722686"/>
            <a:ext cx="916632" cy="1301502"/>
          </a:xfrm>
          <a:prstGeom prst="roundRect">
            <a:avLst>
              <a:gd name="adj" fmla="val 8313"/>
            </a:avLst>
          </a:prstGeom>
          <a:solidFill>
            <a:srgbClr val="0B1F38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38639" y="1884611"/>
            <a:ext cx="604638" cy="533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EF444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338639" y="2468612"/>
            <a:ext cx="6046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安全缺陷修复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51674" y="1722686"/>
            <a:ext cx="916484" cy="1301502"/>
          </a:xfrm>
          <a:prstGeom prst="roundRect">
            <a:avLst>
              <a:gd name="adj" fmla="val 8314"/>
            </a:avLst>
          </a:prstGeom>
          <a:solidFill>
            <a:srgbClr val="0B1F38"/>
          </a:solidFill>
          <a:ln w="9525"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07673" y="1884611"/>
            <a:ext cx="604486" cy="533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400"/>
              </a:spcAft>
              <a:buNone/>
            </a:pPr>
            <a:r>
              <a:rPr lang="en-US" sz="2800" dirty="0">
                <a:solidFill>
                  <a:srgbClr val="A855F7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10x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07673" y="2468612"/>
            <a:ext cx="60448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研发效率提升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7950" y="3278088"/>
            <a:ext cx="3987850" cy="818852"/>
          </a:xfrm>
          <a:prstGeom prst="roundRect">
            <a:avLst>
              <a:gd name="adj" fmla="val 6204"/>
            </a:avLst>
          </a:prstGeom>
          <a:solidFill>
            <a:srgbClr val="020C18"/>
          </a:solidFill>
          <a:ln w="9525">
            <a:solidFill>
              <a:srgbClr val="1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8976" y="3389114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前端交付物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8976" y="3579614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App.jsx · 7 个 ECharts 图表 · ProcessTimeChart 自定义 SVG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8976" y="3782764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api.js 服务层 · circuit-bg.svg 电路板背景 · Tailwind 响应式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48200" y="3278088"/>
            <a:ext cx="3987850" cy="818852"/>
          </a:xfrm>
          <a:prstGeom prst="roundRect">
            <a:avLst>
              <a:gd name="adj" fmla="val 6204"/>
            </a:avLst>
          </a:prstGeom>
          <a:solidFill>
            <a:srgbClr val="020C18"/>
          </a:solidFill>
          <a:ln w="9525">
            <a:solidFill>
              <a:srgbClr val="1A3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59226" y="3389114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后端交付物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9226" y="3579614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DashboardController/Service · CloudApiClient 抽象层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59226" y="3782764"/>
            <a:ext cx="3841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MockClient 仿真 · Result&lt;T&gt; · GlobalExceptionHandler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13100" y="1005780"/>
            <a:ext cx="1917799" cy="412254"/>
          </a:xfrm>
          <a:prstGeom prst="roundRect">
            <a:avLst>
              <a:gd name="adj" fmla="val 9242"/>
            </a:avLst>
          </a:prstGeom>
          <a:solidFill>
            <a:srgbClr val="007ACC">
              <a:alpha val="20000"/>
            </a:srgbClr>
          </a:solidFill>
          <a:ln w="9525">
            <a:solidFill>
              <a:srgbClr val="007A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707169" y="1040606"/>
            <a:ext cx="1729663" cy="291852"/>
          </a:xfrm>
          <a:prstGeom prst="rect">
            <a:avLst/>
          </a:prstGeom>
          <a:noFill/>
          <a:ln/>
        </p:spPr>
        <p:txBody>
          <a:bodyPr wrap="square" lIns="177800" tIns="50800" rIns="177800" bIns="50800" rtlCol="0" anchor="t"/>
          <a:lstStyle/>
          <a:p>
            <a:pPr algn="ctr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贯穿全程的 AI 核心能力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73425" y="1595735"/>
            <a:ext cx="279700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3000" dirty="0">
                <a:solidFill>
                  <a:srgbClr val="00D4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AI 不仅能写代码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203813" y="2294186"/>
            <a:ext cx="8384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多模态理解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03813" y="2494211"/>
            <a:ext cx="8384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读截图 · 读文档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203813" y="2697361"/>
            <a:ext cx="8384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 UI 布局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17837" y="2900511"/>
            <a:ext cx="810220" cy="354955"/>
          </a:xfrm>
          <a:prstGeom prst="roundRect">
            <a:avLst>
              <a:gd name="adj" fmla="val 10734"/>
            </a:avLst>
          </a:prstGeom>
          <a:solidFill>
            <a:srgbClr val="007ACC">
              <a:alpha val="20000"/>
            </a:srgbClr>
          </a:solidFill>
          <a:ln w="9525">
            <a:solidFill>
              <a:srgbClr val="007A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322981" y="2986088"/>
            <a:ext cx="599932" cy="183803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t"/>
          <a:lstStyle/>
          <a:p>
            <a:pPr algn="ctr" indent="0" marL="0">
              <a:lnSpc>
                <a:spcPts val="10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178189" y="2294186"/>
            <a:ext cx="8385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全栈生成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78189" y="2494211"/>
            <a:ext cx="8385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前端+后端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178189" y="2697361"/>
            <a:ext cx="8385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一步到位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95948" y="2900511"/>
            <a:ext cx="602903" cy="354955"/>
          </a:xfrm>
          <a:prstGeom prst="roundRect">
            <a:avLst>
              <a:gd name="adj" fmla="val 10734"/>
            </a:avLst>
          </a:prstGeom>
          <a:solidFill>
            <a:srgbClr val="A78BFA">
              <a:alpha val="15000"/>
            </a:srgbClr>
          </a:solidFill>
          <a:ln w="9525">
            <a:solidFill>
              <a:srgbClr val="A78BF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03165" y="2986088"/>
            <a:ext cx="388468" cy="183803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t"/>
          <a:lstStyle/>
          <a:p>
            <a:pPr algn="ctr" indent="0" marL="0">
              <a:lnSpc>
                <a:spcPts val="10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协作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152717" y="2294186"/>
            <a:ext cx="8384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元数据驱动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52717" y="2494211"/>
            <a:ext cx="8384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字段契约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52717" y="2697361"/>
            <a:ext cx="8384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接口文档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60937" y="2900511"/>
            <a:ext cx="821978" cy="488156"/>
          </a:xfrm>
          <a:prstGeom prst="roundRect">
            <a:avLst>
              <a:gd name="adj" fmla="val 7805"/>
            </a:avLst>
          </a:prstGeom>
          <a:solidFill>
            <a:srgbClr val="D97706">
              <a:alpha val="20000"/>
            </a:srgbClr>
          </a:solidFill>
          <a:ln w="9525">
            <a:solidFill>
              <a:srgbClr val="D9770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265963" y="2986088"/>
            <a:ext cx="611925" cy="317004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t"/>
          <a:lstStyle/>
          <a:p>
            <a:pPr algn="ctr" indent="0" marL="0">
              <a:lnSpc>
                <a:spcPts val="10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127093" y="2294186"/>
            <a:ext cx="8385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截图调试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27093" y="2494211"/>
            <a:ext cx="8385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精准修复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27093" y="2697361"/>
            <a:ext cx="8385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分钟级迭代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41268" y="2900511"/>
            <a:ext cx="810220" cy="354955"/>
          </a:xfrm>
          <a:prstGeom prst="roundRect">
            <a:avLst>
              <a:gd name="adj" fmla="val 10734"/>
            </a:avLst>
          </a:prstGeom>
          <a:solidFill>
            <a:srgbClr val="007ACC">
              <a:alpha val="20000"/>
            </a:srgbClr>
          </a:solidFill>
          <a:ln w="9525">
            <a:solidFill>
              <a:srgbClr val="007A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46412" y="2986088"/>
            <a:ext cx="599932" cy="183803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t"/>
          <a:lstStyle/>
          <a:p>
            <a:pPr algn="ctr" indent="0" marL="0">
              <a:lnSpc>
                <a:spcPts val="10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101620" y="2294186"/>
            <a:ext cx="8385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安全审查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01620" y="2494211"/>
            <a:ext cx="8385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漏洞检测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01620" y="2697361"/>
            <a:ext cx="8385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自动修复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15794" y="2900511"/>
            <a:ext cx="810220" cy="354955"/>
          </a:xfrm>
          <a:prstGeom prst="roundRect">
            <a:avLst>
              <a:gd name="adj" fmla="val 10734"/>
            </a:avLst>
          </a:prstGeom>
          <a:solidFill>
            <a:srgbClr val="007ACC">
              <a:alpha val="20000"/>
            </a:srgbClr>
          </a:solidFill>
          <a:ln w="9525">
            <a:solidFill>
              <a:srgbClr val="007A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220938" y="2986088"/>
            <a:ext cx="599932" cy="183803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t"/>
          <a:lstStyle/>
          <a:p>
            <a:pPr algn="ctr" indent="0" marL="0">
              <a:lnSpc>
                <a:spcPts val="105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804083" y="3642568"/>
            <a:ext cx="3535835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更能理解需求、设计架构、生成文档、审查安全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982694" y="3940820"/>
            <a:ext cx="1178612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驱动全链路研发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Coding 研发提效总结</dc:title>
  <dc:subject>PptxGenJS Presentation</dc:subject>
  <dc:creator>AI Coding Team</dc:creator>
  <cp:lastModifiedBy>AI Coding Team</cp:lastModifiedBy>
  <cp:revision>1</cp:revision>
  <dcterms:created xsi:type="dcterms:W3CDTF">2026-03-11T14:39:01Z</dcterms:created>
  <dcterms:modified xsi:type="dcterms:W3CDTF">2026-03-11T14:39:01Z</dcterms:modified>
</cp:coreProperties>
</file>