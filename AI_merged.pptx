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chargo_order\arch_screensh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" name="Text 1"/>
          <p:cNvSpPr/>
          <p:nvPr/>
        </p:nvSpPr>
        <p:spPr>
          <a:xfrm>
            <a:off x="0" y="182880"/>
            <a:ext cx="9144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关键路径说明  ·  AI 赋能全链路研发流程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6858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移动储能机器人运营中心  ·  从需求到交付的完整独立系统研发过程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4864" cy="438912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6" name="Text 4"/>
          <p:cNvSpPr/>
          <p:nvPr/>
        </p:nvSpPr>
        <p:spPr>
          <a:xfrm>
            <a:off x="475488" y="1188720"/>
            <a:ext cx="256032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输入层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需求文档《订单分析报表.docx》+ 运营中心原型 UI 截图，两类资产共同作为 AI 的多模态输入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54864" cy="43891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9" name="Text 7"/>
          <p:cNvSpPr/>
          <p:nvPr/>
        </p:nvSpPr>
        <p:spPr>
          <a:xfrm>
            <a:off x="475615" y="1783080"/>
            <a:ext cx="3293745" cy="255905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02-04 ★ AI 分析 · 架构生成 · 全栈研发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03911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读取文档语义、识别原型布局，自动生成 Vite+React+Tailwind 前端工程及 Spring Boot MVC 后端工程，驱动实现 7 个图表模块、全局异常处理、CloudApiClient 抄象层等全栈功能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54864" cy="43891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475488" y="2377440"/>
            <a:ext cx="256032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前后端接口联调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63347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Vite Proxy 代理转发，统一 Result&lt;T&gt; 返回格式，前端 Axios 拦截器自动解包。站点选择、时间筛选通过 siteId/days 参数注入，实现全图表联动刷新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54864" cy="43891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15" name="Text 13"/>
          <p:cNvSpPr/>
          <p:nvPr/>
        </p:nvSpPr>
        <p:spPr>
          <a:xfrm>
            <a:off x="475615" y="2994660"/>
            <a:ext cx="2947035" cy="255905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★ AI 元数据提取 → 接口文档设计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322783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从 OrderRecord、RobotRecord 等 DTO 模型中提取字段定义、枚举値、计算逻辑，自动生成云平台接口文档，GET /api/orders、/api/robots、/api/sites 字段如实标注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66160"/>
            <a:ext cx="54864" cy="438912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18" name="Text 16"/>
          <p:cNvSpPr/>
          <p:nvPr/>
        </p:nvSpPr>
        <p:spPr>
          <a:xfrm>
            <a:off x="475488" y="3566160"/>
            <a:ext cx="256032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云平台传统开发 + 联调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82219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云平台团队按接口文档实现订单管理、机器人调度、站点管理三个子系统，将 application.properties 中 cloud.api.mock 改为 false 即可无缝切换至真实数据源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54864" cy="43891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475488" y="4160520"/>
            <a:ext cx="2560320" cy="25603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系统交付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4416552"/>
            <a:ext cx="8321040" cy="2926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完整独立运营中心看板系统上线，7 个图表模块、多站点筛选、全链路貯通，AI 全程将传统研发效率提升 6~10倍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4800600"/>
            <a:ext cx="9144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★ 标注为 AI 主驱动阶段；其余阶段为人工或云平台团队协同完成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 0"/>
            <p:cNvSpPr/>
            <p:nvPr/>
          </p:nvSpPr>
          <p:spPr>
            <a:xfrm>
              <a:off x="457200" y="1097280"/>
              <a:ext cx="82296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36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赋能全链路研发</a:t>
              </a:r>
              <a:endParaRPr lang="en-US" sz="3600" dirty="0"/>
            </a:p>
          </p:txBody>
        </p:sp>
      </CT_Shape>
      <CT_Shape>
        <p:sp>
          <p:nvSpPr>
            <p:cNvPr id="3" name="Text 1"/>
            <p:cNvSpPr/>
            <p:nvPr/>
          </p:nvSpPr>
          <p:spPr>
            <a:xfrm>
              <a:off x="457200" y="1828800"/>
              <a:ext cx="8229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24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移动储能机器人运营中心 · 系统研发架构图</a:t>
              </a:r>
              <a:endParaRPr lang="en-US" sz="2400" dirty="0"/>
            </a:p>
          </p:txBody>
        </p:sp>
      </CT_Shape>
      <CT_Shape>
        <p:sp>
          <p:nvSpPr>
            <p:cNvPr id="4" name="Text 2"/>
            <p:cNvSpPr/>
            <p:nvPr/>
          </p:nvSpPr>
          <p:spPr>
            <a:xfrm>
              <a:off x="457200" y="25603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从需求输入 → AI分析 → 系统研发 → 接口设计 → 云平台对接 → 完整交付</a:t>
              </a:r>
              <a:endParaRPr lang="en-US" sz="1400" dirty="0"/>
            </a:p>
          </p:txBody>
        </p:sp>
      </CT_Shape>
      <CT_Shape>
        <p:sp>
          <p:nvSpPr>
            <p:cNvPr id="5" name="Shape 3"/>
            <p:cNvSpPr/>
            <p:nvPr/>
          </p:nvSpPr>
          <p:spPr>
            <a:xfrm>
              <a:off x="3840480" y="3200400"/>
              <a:ext cx="1463040" cy="457200"/>
            </a:xfrm>
            <a:prstGeom prst="rect">
              <a:avLst/>
            </a:prstGeom>
            <a:solidFill>
              <a:srgbClr val="00D4FF">
                <a:alpha val="20000"/>
              </a:srgbClr>
            </a:solidFill>
            <a:ln w="12700">
              <a:solidFill>
                <a:srgbClr val="00D4FF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6" name="Text 4"/>
            <p:cNvSpPr/>
            <p:nvPr/>
          </p:nvSpPr>
          <p:spPr>
            <a:xfrm>
              <a:off x="3657600" y="3218688"/>
              <a:ext cx="18288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2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★ Cursor + Claude 大模型驱动</a:t>
              </a:r>
              <a:endParaRPr lang="en-US" sz="1200" dirty="0"/>
            </a:p>
          </p:txBody>
        </p:sp>
      </CT_Shap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 0"/>
            <p:cNvSpPr/>
            <p:nvPr/>
          </p:nvSpPr>
          <p:spPr>
            <a:xfrm>
              <a:off x="457200" y="18288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28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成果展示 · 运营大屏</a:t>
              </a:r>
              <a:endParaRPr lang="en-US" sz="2800" dirty="0"/>
            </a:p>
          </p:txBody>
        </p:sp>
      </CT_Shape>
      <CT_Shape>
        <p:sp>
          <p:nvSpPr>
            <p:cNvPr id="3" name="Text 1"/>
            <p:cNvSpPr/>
            <p:nvPr/>
          </p:nvSpPr>
          <p:spPr>
            <a:xfrm>
              <a:off x="457200" y="685800"/>
              <a:ext cx="8229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深色科技风 Dashboard，7 个核心图表模块，支持站点筛选与时间维度分析</a:t>
              </a:r>
              <a:endParaRPr lang="en-US" sz="1200" dirty="0"/>
            </a:p>
          </p:txBody>
        </p:sp>
      </CT_Shape>
      <CT_Picture>
        <p:pic>
          <p:nvPicPr>
            <p:cNvPr id="4" name="Image 0" descr="F:\chargo_order\img\540351e3-545a-42fe-ba70-b3e079b6474a.png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457200" y="1097280"/>
              <a:ext cx="8229600" cy="4389120"/>
            </a:xfrm>
            <a:prstGeom prst="rect">
              <a:avLst/>
            </a:prstGeom>
          </p:spPr>
        </p:pic>
      </CT_Picture>
      <CT_Shape>
        <p:sp>
          <p:nvSpPr>
            <p:cNvPr id="5" name="Shape 2"/>
            <p:cNvSpPr/>
            <p:nvPr/>
          </p:nvSpPr>
          <p:spPr>
            <a:xfrm>
              <a:off x="457200" y="5486400"/>
              <a:ext cx="8229600" cy="548640"/>
            </a:xfrm>
            <a:prstGeom prst="rect">
              <a:avLst/>
            </a:prstGeom>
            <a:solidFill>
              <a:srgbClr val="E2E8F0"/>
            </a:solidFill>
            <a:ln/>
          </p:spPr>
          <p:txBody>
            <a:bodyPr/>
            <a:p/>
          </p:txBody>
        </p:sp>
      </CT_Shape>
      <CT_Shape>
        <p:sp>
          <p:nvSpPr>
            <p:cNvPr id="6" name="Text 3"/>
            <p:cNvSpPr/>
            <p:nvPr/>
          </p:nvSpPr>
          <p:spPr>
            <a:xfrm>
              <a:off x="548640" y="5532120"/>
              <a:ext cx="80467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475569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核心指标：</a:t>
              </a:r>
              <a:pPr indent="0" marL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总订单 1,232 · 充电 42,807 kWh · 活跃机器人 45 | </a:t>
              </a:r>
              <a:pPr indent="0" marL="0">
                <a:buNone/>
              </a:pPr>
              <a:r>
                <a:rPr lang="en-US" sz="1100" b="1" dirty="0">
                  <a:solidFill>
                    <a:srgbClr val="475569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完单率 70% | </a:t>
              </a:r>
              <a:pPr indent="0" marL="0">
                <a:buNone/>
              </a:pPr>
              <a:r>
                <a:rPr lang="en-US" sz="1100" dirty="0">
                  <a:solidFill>
                    <a:srgbClr val="475569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平均流程耗时 57 分钟 | 24h 热力图 + 用户忠诚度分析</a:t>
              </a:r>
              <a:endParaRPr lang="en-US" sz="1100" dirty="0"/>
            </a:p>
          </p:txBody>
        </p:sp>
      </CT_Shap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 0"/>
            <p:cNvSpPr/>
            <p:nvPr/>
          </p:nvSpPr>
          <p:spPr>
            <a:xfrm>
              <a:off x="457200" y="18288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28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成果展示 · 前后端联调</a:t>
              </a:r>
              <a:endParaRPr lang="en-US" sz="2800" dirty="0"/>
            </a:p>
          </p:txBody>
        </p:sp>
      </CT_Shape>
      <CT_Shape>
        <p:sp>
          <p:nvSpPr>
            <p:cNvPr id="3" name="Text 1"/>
            <p:cNvSpPr/>
            <p:nvPr/>
          </p:nvSpPr>
          <p:spPr>
            <a:xfrm>
              <a:off x="457200" y="685800"/>
              <a:ext cx="8229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8 个 REST 接口并行请求，Vite 代理转发，统一 Result&lt;T&gt; 响应格式</a:t>
              </a:r>
              <a:endParaRPr lang="en-US" sz="1200" dirty="0"/>
            </a:p>
          </p:txBody>
        </p:sp>
      </CT_Shape>
      <CT_Picture>
        <p:pic>
          <p:nvPicPr>
            <p:cNvPr id="4" name="Image 0" descr="F:\chargo_order\img\d20e6e7b-9436-4917-bda7-1ee1bc040648.png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457200" y="1097280"/>
              <a:ext cx="8229600" cy="4206240"/>
            </a:xfrm>
            <a:prstGeom prst="rect">
              <a:avLst/>
            </a:prstGeom>
          </p:spPr>
        </p:pic>
      </CT_Picture>
      <CT_Shape>
        <p:sp>
          <p:nvSpPr>
            <p:cNvPr id="5" name="Shape 2"/>
            <p:cNvSpPr/>
            <p:nvPr/>
          </p:nvSpPr>
          <p:spPr>
            <a:xfrm>
              <a:off x="457200" y="5303520"/>
              <a:ext cx="8229600" cy="594360"/>
            </a:xfrm>
            <a:prstGeom prst="rect">
              <a:avLst/>
            </a:prstGeom>
            <a:solidFill>
              <a:srgbClr val="DBEAFE"/>
            </a:solidFill>
            <a:ln/>
          </p:spPr>
          <p:txBody>
            <a:bodyPr/>
            <a:p/>
          </p:txBody>
        </p:sp>
      </CT_Shape>
      <CT_Shape>
        <p:sp>
          <p:nvSpPr>
            <p:cNvPr id="6" name="Text 3"/>
            <p:cNvSpPr/>
            <p:nvPr/>
          </p:nvSpPr>
          <p:spPr>
            <a:xfrm>
              <a:off x="548640" y="5349240"/>
              <a:ext cx="8046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1E40A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API 端点：</a:t>
              </a:r>
              <a:pPr indent="0" marL="0">
                <a:buNone/>
              </a:pPr>
              <a:r>
                <a:rPr lang="en-US" sz="1100" dirty="0">
                  <a:solidFill>
                    <a:srgbClr val="1E40A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sites | stats | completion-rate | end-reasons | heatmap | process-time | cancel-analysis | user-frequency </a:t>
              </a:r>
              <a:pPr indent="0" marL="0">
                <a:buNone/>
              </a:pPr>
              <a:r>
                <a:rPr lang="en-US" sz="1100" dirty="0">
                  <a:solidFill>
                    <a:srgbClr val="1E40A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· 公共参数 ?siteId=&amp;days=7 · 响应 200 OK · 平均耗时 &lt;100ms</a:t>
              </a:r>
              <a:endParaRPr lang="en-US" sz="1100" dirty="0"/>
            </a:p>
          </p:txBody>
        </p:sp>
      </CT_Shap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 0"/>
            <p:cNvSpPr/>
            <p:nvPr/>
          </p:nvSpPr>
          <p:spPr>
            <a:xfrm>
              <a:off x="457200" y="18288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28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成果展示 · 开发环境</a:t>
              </a:r>
              <a:endParaRPr lang="en-US" sz="2800" dirty="0"/>
            </a:p>
          </p:txBody>
        </p:sp>
      </CT_Shape>
      <CT_Shape>
        <p:sp>
          <p:nvSpPr>
            <p:cNvPr id="3" name="Text 1"/>
            <p:cNvSpPr/>
            <p:nvPr/>
          </p:nvSpPr>
          <p:spPr>
            <a:xfrm>
              <a:off x="457200" y="685800"/>
              <a:ext cx="8229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前后端一键启动，本地联调即开即用，Mock 数据支持离线演示</a:t>
              </a:r>
              <a:endParaRPr lang="en-US" sz="1200" dirty="0"/>
            </a:p>
          </p:txBody>
        </p:sp>
      </CT_Shape>
      <CT_Picture>
        <p:pic>
          <p:nvPicPr>
            <p:cNvPr id="4" name="Image 0" descr="F:\chargo_order\img\fef55879-7f09-4d06-9f91-50ac2bcf32f3.png">    </p:cNvPr>
            <p:cNvPicPr>
              <a:picLocks noChangeAspect="1"/>
            </p:cNvPicPr>
            <p:nvPr/>
          </p:nvPicPr>
          <p:blipFill>
            <a:blip r:embed="rId1"/>
            <a:srcRect l="0" r="0" t="0" b="0"/>
            <a:stretch/>
          </p:blipFill>
          <p:spPr>
            <a:xfrm>
              <a:off x="457200" y="1097280"/>
              <a:ext cx="8229600" cy="4206240"/>
            </a:xfrm>
            <a:prstGeom prst="rect">
              <a:avLst/>
            </a:prstGeom>
          </p:spPr>
        </p:pic>
      </CT_Picture>
      <CT_Shape>
        <p:sp>
          <p:nvSpPr>
            <p:cNvPr id="5" name="Shape 2"/>
            <p:cNvSpPr/>
            <p:nvPr/>
          </p:nvSpPr>
          <p:spPr>
            <a:xfrm>
              <a:off x="457200" y="5303520"/>
              <a:ext cx="8229600" cy="594360"/>
            </a:xfrm>
            <a:prstGeom prst="rect">
              <a:avLst/>
            </a:prstGeom>
            <a:solidFill>
              <a:srgbClr val="D1FAE5"/>
            </a:solidFill>
            <a:ln/>
          </p:spPr>
          <p:txBody>
            <a:bodyPr/>
            <a:p/>
          </p:txBody>
        </p:sp>
      </CT_Shape>
      <CT_Shape>
        <p:sp>
          <p:nvSpPr>
            <p:cNvPr id="6" name="Text 3"/>
            <p:cNvSpPr/>
            <p:nvPr/>
          </p:nvSpPr>
          <p:spPr>
            <a:xfrm>
              <a:off x="548640" y="5349240"/>
              <a:ext cx="8046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100" b="1" dirty="0">
                  <a:solidFill>
                    <a:srgbClr val="065F4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前端：</a:t>
              </a:r>
              <a:pPr indent="0" marL="0">
                <a:buNone/>
              </a:pPr>
              <a:r>
                <a:rPr lang="en-US" sz="1100" dirty="0">
                  <a:solidFill>
                    <a:srgbClr val="065F4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http://localhost:3000  (Vite + React)  |  </a:t>
              </a:r>
              <a:pPr indent="0" marL="0">
                <a:buNone/>
              </a:pPr>
              <a:r>
                <a:rPr lang="en-US" sz="1100" b="1" dirty="0">
                  <a:solidFill>
                    <a:srgbClr val="065F4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后端：</a:t>
              </a:r>
              <a:pPr indent="0" marL="0">
                <a:buNone/>
              </a:pPr>
              <a:r>
                <a:rPr lang="en-US" sz="1100" dirty="0">
                  <a:solidFill>
                    <a:srgbClr val="065F4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http://localhost:8080  (Spring Boot)  |  cloud.api.mock=true 使用仿真数据</a:t>
              </a:r>
              <a:endParaRPr lang="en-US" sz="1100" dirty="0"/>
            </a:p>
          </p:txBody>
        </p:sp>
      </CT_Shap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 0"/>
            <p:cNvSpPr/>
            <p:nvPr/>
          </p:nvSpPr>
          <p:spPr>
            <a:xfrm>
              <a:off x="457200" y="18288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28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赋能全链路研发流程</a:t>
              </a:r>
              <a:endParaRPr lang="en-US" sz="2800" dirty="0"/>
            </a:p>
          </p:txBody>
        </p:sp>
      </CT_Shape>
      <CT_Shape>
        <p:sp>
          <p:nvSpPr>
            <p:cNvPr id="3" name="Shape 1"/>
            <p:cNvSpPr/>
            <p:nvPr/>
          </p:nvSpPr>
          <p:spPr>
            <a:xfrm>
              <a:off x="457200" y="914400"/>
              <a:ext cx="960120" cy="1097280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4" name="Text 2"/>
            <p:cNvSpPr/>
            <p:nvPr/>
          </p:nvSpPr>
          <p:spPr>
            <a:xfrm>
              <a:off x="457200" y="960120"/>
              <a:ext cx="960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01</a:t>
              </a:r>
              <a:endParaRPr lang="en-US" sz="1000" dirty="0"/>
            </a:p>
          </p:txBody>
        </p:sp>
      </CT_Shape>
      <CT_Shape>
        <p:sp>
          <p:nvSpPr>
            <p:cNvPr id="5" name="Text 3"/>
            <p:cNvSpPr/>
            <p:nvPr/>
          </p:nvSpPr>
          <p:spPr>
            <a:xfrm>
              <a:off x="457200" y="1234440"/>
              <a:ext cx="960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475569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需求输入</a:t>
              </a:r>
              <a:endParaRPr lang="en-US" sz="1100" dirty="0"/>
            </a:p>
          </p:txBody>
        </p:sp>
      </CT_Shape>
      <CT_Shape>
        <p:sp>
          <p:nvSpPr>
            <p:cNvPr id="6" name="Text 4"/>
            <p:cNvSpPr/>
            <p:nvPr/>
          </p:nvSpPr>
          <p:spPr>
            <a:xfrm>
              <a:off x="457200" y="1600200"/>
              <a:ext cx="9601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文档 + 原型截图</a:t>
              </a:r>
              <a:endParaRPr lang="en-US" sz="900" dirty="0"/>
            </a:p>
          </p:txBody>
        </p:sp>
      </CT_Shape>
      <CT_Shape>
        <p:sp>
          <p:nvSpPr>
            <p:cNvPr id="7" name="Text 5"/>
            <p:cNvSpPr/>
            <p:nvPr/>
          </p:nvSpPr>
          <p:spPr>
            <a:xfrm>
              <a:off x="1325880" y="128016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600" dirty="0">
                  <a:solidFill>
                    <a:srgbClr val="94A3B8"/>
                  </a:solidFill>
                </a:rPr>
                <a:t>›</a:t>
              </a:r>
              <a:endParaRPr lang="en-US" sz="1600" dirty="0"/>
            </a:p>
          </p:txBody>
        </p:sp>
      </CT_Shape>
      <CT_Shape>
        <p:sp>
          <p:nvSpPr>
            <p:cNvPr id="8" name="Shape 6"/>
            <p:cNvSpPr/>
            <p:nvPr/>
          </p:nvSpPr>
          <p:spPr>
            <a:xfrm>
              <a:off x="1463040" y="914400"/>
              <a:ext cx="960120" cy="1097280"/>
            </a:xfrm>
            <a:prstGeom prst="rect">
              <a:avLst/>
            </a:prstGeom>
            <a:solidFill>
              <a:srgbClr val="E0F2FE"/>
            </a:solidFill>
            <a:ln w="12700">
              <a:solidFill>
                <a:srgbClr val="00D4FF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9" name="Text 7"/>
            <p:cNvSpPr/>
            <p:nvPr/>
          </p:nvSpPr>
          <p:spPr>
            <a:xfrm>
              <a:off x="1463040" y="960120"/>
              <a:ext cx="960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02</a:t>
              </a:r>
              <a:endParaRPr lang="en-US" sz="1000" dirty="0"/>
            </a:p>
          </p:txBody>
        </p:sp>
      </CT_Shape>
      <CT_Shape>
        <p:sp>
          <p:nvSpPr>
            <p:cNvPr id="10" name="Text 8"/>
            <p:cNvSpPr/>
            <p:nvPr/>
          </p:nvSpPr>
          <p:spPr>
            <a:xfrm>
              <a:off x="1463040" y="1234440"/>
              <a:ext cx="960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智能分析</a:t>
              </a:r>
              <a:endParaRPr lang="en-US" sz="1100" dirty="0"/>
            </a:p>
          </p:txBody>
        </p:sp>
      </CT_Shape>
      <CT_Shape>
        <p:sp>
          <p:nvSpPr>
            <p:cNvPr id="11" name="Text 9"/>
            <p:cNvSpPr/>
            <p:nvPr/>
          </p:nvSpPr>
          <p:spPr>
            <a:xfrm>
              <a:off x="1463040" y="1600200"/>
              <a:ext cx="9601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需求理解 · UI 解读</a:t>
              </a:r>
              <a:endParaRPr lang="en-US" sz="900" dirty="0"/>
            </a:p>
          </p:txBody>
        </p:sp>
      </CT_Shape>
      <CT_Shape>
        <p:sp>
          <p:nvSpPr>
            <p:cNvPr id="12" name="Text 10"/>
            <p:cNvSpPr/>
            <p:nvPr/>
          </p:nvSpPr>
          <p:spPr>
            <a:xfrm>
              <a:off x="2331720" y="128016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600" dirty="0">
                  <a:solidFill>
                    <a:srgbClr val="94A3B8"/>
                  </a:solidFill>
                </a:rPr>
                <a:t>›</a:t>
              </a:r>
              <a:endParaRPr lang="en-US" sz="1600" dirty="0"/>
            </a:p>
          </p:txBody>
        </p:sp>
      </CT_Shape>
      <CT_Shape>
        <p:sp>
          <p:nvSpPr>
            <p:cNvPr id="13" name="Shape 11"/>
            <p:cNvSpPr/>
            <p:nvPr/>
          </p:nvSpPr>
          <p:spPr>
            <a:xfrm>
              <a:off x="2468880" y="914400"/>
              <a:ext cx="960120" cy="1097280"/>
            </a:xfrm>
            <a:prstGeom prst="rect">
              <a:avLst/>
            </a:prstGeom>
            <a:solidFill>
              <a:srgbClr val="E0F2FE"/>
            </a:solidFill>
            <a:ln w="12700">
              <a:solidFill>
                <a:srgbClr val="00D4FF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14" name="Text 12"/>
            <p:cNvSpPr/>
            <p:nvPr/>
          </p:nvSpPr>
          <p:spPr>
            <a:xfrm>
              <a:off x="2468880" y="960120"/>
              <a:ext cx="960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03</a:t>
              </a:r>
              <a:endParaRPr lang="en-US" sz="1000" dirty="0"/>
            </a:p>
          </p:txBody>
        </p:sp>
      </CT_Shape>
      <CT_Shape>
        <p:sp>
          <p:nvSpPr>
            <p:cNvPr id="15" name="Text 13"/>
            <p:cNvSpPr/>
            <p:nvPr/>
          </p:nvSpPr>
          <p:spPr>
            <a:xfrm>
              <a:off x="2468880" y="1234440"/>
              <a:ext cx="960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架构生成</a:t>
              </a:r>
              <a:endParaRPr lang="en-US" sz="1100" dirty="0"/>
            </a:p>
          </p:txBody>
        </p:sp>
      </CT_Shape>
      <CT_Shape>
        <p:sp>
          <p:nvSpPr>
            <p:cNvPr id="16" name="Text 14"/>
            <p:cNvSpPr/>
            <p:nvPr/>
          </p:nvSpPr>
          <p:spPr>
            <a:xfrm>
              <a:off x="2468880" y="1600200"/>
              <a:ext cx="9601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工程骨架 + 配置</a:t>
              </a:r>
              <a:endParaRPr lang="en-US" sz="900" dirty="0"/>
            </a:p>
          </p:txBody>
        </p:sp>
      </CT_Shape>
      <CT_Shape>
        <p:sp>
          <p:nvSpPr>
            <p:cNvPr id="17" name="Text 15"/>
            <p:cNvSpPr/>
            <p:nvPr/>
          </p:nvSpPr>
          <p:spPr>
            <a:xfrm>
              <a:off x="3337560" y="128016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600" dirty="0">
                  <a:solidFill>
                    <a:srgbClr val="94A3B8"/>
                  </a:solidFill>
                </a:rPr>
                <a:t>›</a:t>
              </a:r>
              <a:endParaRPr lang="en-US" sz="1600" dirty="0"/>
            </a:p>
          </p:txBody>
        </p:sp>
      </CT_Shape>
      <CT_Shape>
        <p:sp>
          <p:nvSpPr>
            <p:cNvPr id="18" name="Shape 16"/>
            <p:cNvSpPr/>
            <p:nvPr/>
          </p:nvSpPr>
          <p:spPr>
            <a:xfrm>
              <a:off x="3474720" y="914400"/>
              <a:ext cx="960120" cy="1097280"/>
            </a:xfrm>
            <a:prstGeom prst="rect">
              <a:avLst/>
            </a:prstGeom>
            <a:solidFill>
              <a:srgbClr val="E0F2FE"/>
            </a:solidFill>
            <a:ln w="12700">
              <a:solidFill>
                <a:srgbClr val="00D4FF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19" name="Text 17"/>
            <p:cNvSpPr/>
            <p:nvPr/>
          </p:nvSpPr>
          <p:spPr>
            <a:xfrm>
              <a:off x="3474720" y="960120"/>
              <a:ext cx="960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04</a:t>
              </a:r>
              <a:endParaRPr lang="en-US" sz="1000" dirty="0"/>
            </a:p>
          </p:txBody>
        </p:sp>
      </CT_Shape>
      <CT_Shape>
        <p:sp>
          <p:nvSpPr>
            <p:cNvPr id="20" name="Text 18"/>
            <p:cNvSpPr/>
            <p:nvPr/>
          </p:nvSpPr>
          <p:spPr>
            <a:xfrm>
              <a:off x="3474720" y="1234440"/>
              <a:ext cx="960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全栈研发</a:t>
              </a:r>
              <a:endParaRPr lang="en-US" sz="1100" dirty="0"/>
            </a:p>
          </p:txBody>
        </p:sp>
      </CT_Shape>
      <CT_Shape>
        <p:sp>
          <p:nvSpPr>
            <p:cNvPr id="21" name="Text 19"/>
            <p:cNvSpPr/>
            <p:nvPr/>
          </p:nvSpPr>
          <p:spPr>
            <a:xfrm>
              <a:off x="3474720" y="1600200"/>
              <a:ext cx="9601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前端 + 后端编码</a:t>
              </a:r>
              <a:endParaRPr lang="en-US" sz="900" dirty="0"/>
            </a:p>
          </p:txBody>
        </p:sp>
      </CT_Shape>
      <CT_Shape>
        <p:sp>
          <p:nvSpPr>
            <p:cNvPr id="22" name="Text 20"/>
            <p:cNvSpPr/>
            <p:nvPr/>
          </p:nvSpPr>
          <p:spPr>
            <a:xfrm>
              <a:off x="4343400" y="128016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600" dirty="0">
                  <a:solidFill>
                    <a:srgbClr val="94A3B8"/>
                  </a:solidFill>
                </a:rPr>
                <a:t>›</a:t>
              </a:r>
              <a:endParaRPr lang="en-US" sz="1600" dirty="0"/>
            </a:p>
          </p:txBody>
        </p:sp>
      </CT_Shape>
      <CT_Shape>
        <p:sp>
          <p:nvSpPr>
            <p:cNvPr id="23" name="Shape 21"/>
            <p:cNvSpPr/>
            <p:nvPr/>
          </p:nvSpPr>
          <p:spPr>
            <a:xfrm>
              <a:off x="4480560" y="914400"/>
              <a:ext cx="960120" cy="1097280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24" name="Text 22"/>
            <p:cNvSpPr/>
            <p:nvPr/>
          </p:nvSpPr>
          <p:spPr>
            <a:xfrm>
              <a:off x="4480560" y="960120"/>
              <a:ext cx="960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05</a:t>
              </a:r>
              <a:endParaRPr lang="en-US" sz="1000" dirty="0"/>
            </a:p>
          </p:txBody>
        </p:sp>
      </CT_Shape>
      <CT_Shape>
        <p:sp>
          <p:nvSpPr>
            <p:cNvPr id="25" name="Text 23"/>
            <p:cNvSpPr/>
            <p:nvPr/>
          </p:nvSpPr>
          <p:spPr>
            <a:xfrm>
              <a:off x="4480560" y="1234440"/>
              <a:ext cx="960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475569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前后端联调</a:t>
              </a:r>
              <a:endParaRPr lang="en-US" sz="1100" dirty="0"/>
            </a:p>
          </p:txBody>
        </p:sp>
      </CT_Shape>
      <CT_Shape>
        <p:sp>
          <p:nvSpPr>
            <p:cNvPr id="26" name="Text 24"/>
            <p:cNvSpPr/>
            <p:nvPr/>
          </p:nvSpPr>
          <p:spPr>
            <a:xfrm>
              <a:off x="4480560" y="1600200"/>
              <a:ext cx="9601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Result&lt;T&gt; · 参数联动</a:t>
              </a:r>
              <a:endParaRPr lang="en-US" sz="900" dirty="0"/>
            </a:p>
          </p:txBody>
        </p:sp>
      </CT_Shape>
      <CT_Shape>
        <p:sp>
          <p:nvSpPr>
            <p:cNvPr id="27" name="Text 25"/>
            <p:cNvSpPr/>
            <p:nvPr/>
          </p:nvSpPr>
          <p:spPr>
            <a:xfrm>
              <a:off x="5349240" y="128016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600" dirty="0">
                  <a:solidFill>
                    <a:srgbClr val="94A3B8"/>
                  </a:solidFill>
                </a:rPr>
                <a:t>›</a:t>
              </a:r>
              <a:endParaRPr lang="en-US" sz="1600" dirty="0"/>
            </a:p>
          </p:txBody>
        </p:sp>
      </CT_Shape>
      <CT_Shape>
        <p:sp>
          <p:nvSpPr>
            <p:cNvPr id="28" name="Shape 26"/>
            <p:cNvSpPr/>
            <p:nvPr/>
          </p:nvSpPr>
          <p:spPr>
            <a:xfrm>
              <a:off x="5486400" y="914400"/>
              <a:ext cx="960120" cy="1097280"/>
            </a:xfrm>
            <a:prstGeom prst="rect">
              <a:avLst/>
            </a:prstGeom>
            <a:solidFill>
              <a:srgbClr val="E0F2FE"/>
            </a:solidFill>
            <a:ln w="12700">
              <a:solidFill>
                <a:srgbClr val="00D4FF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29" name="Text 27"/>
            <p:cNvSpPr/>
            <p:nvPr/>
          </p:nvSpPr>
          <p:spPr>
            <a:xfrm>
              <a:off x="5486400" y="960120"/>
              <a:ext cx="960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06</a:t>
              </a:r>
              <a:endParaRPr lang="en-US" sz="1000" dirty="0"/>
            </a:p>
          </p:txBody>
        </p:sp>
      </CT_Shape>
      <CT_Shape>
        <p:sp>
          <p:nvSpPr>
            <p:cNvPr id="30" name="Text 28"/>
            <p:cNvSpPr/>
            <p:nvPr/>
          </p:nvSpPr>
          <p:spPr>
            <a:xfrm>
              <a:off x="5486400" y="1234440"/>
              <a:ext cx="960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接口设计</a:t>
              </a:r>
              <a:endParaRPr lang="en-US" sz="1100" dirty="0"/>
            </a:p>
          </p:txBody>
        </p:sp>
      </CT_Shape>
      <CT_Shape>
        <p:sp>
          <p:nvSpPr>
            <p:cNvPr id="31" name="Text 29"/>
            <p:cNvSpPr/>
            <p:nvPr/>
          </p:nvSpPr>
          <p:spPr>
            <a:xfrm>
              <a:off x="5486400" y="1600200"/>
              <a:ext cx="9601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元数据 → 接口文档</a:t>
              </a:r>
              <a:endParaRPr lang="en-US" sz="900" dirty="0"/>
            </a:p>
          </p:txBody>
        </p:sp>
      </CT_Shape>
      <CT_Shape>
        <p:sp>
          <p:nvSpPr>
            <p:cNvPr id="32" name="Text 30"/>
            <p:cNvSpPr/>
            <p:nvPr/>
          </p:nvSpPr>
          <p:spPr>
            <a:xfrm>
              <a:off x="6355080" y="128016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600" dirty="0">
                  <a:solidFill>
                    <a:srgbClr val="94A3B8"/>
                  </a:solidFill>
                </a:rPr>
                <a:t>›</a:t>
              </a:r>
              <a:endParaRPr lang="en-US" sz="1600" dirty="0"/>
            </a:p>
          </p:txBody>
        </p:sp>
      </CT_Shape>
      <CT_Shape>
        <p:sp>
          <p:nvSpPr>
            <p:cNvPr id="33" name="Shape 31"/>
            <p:cNvSpPr/>
            <p:nvPr/>
          </p:nvSpPr>
          <p:spPr>
            <a:xfrm>
              <a:off x="6492240" y="914400"/>
              <a:ext cx="960120" cy="1097280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34" name="Text 32"/>
            <p:cNvSpPr/>
            <p:nvPr/>
          </p:nvSpPr>
          <p:spPr>
            <a:xfrm>
              <a:off x="6492240" y="960120"/>
              <a:ext cx="960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07</a:t>
              </a:r>
              <a:endParaRPr lang="en-US" sz="1000" dirty="0"/>
            </a:p>
          </p:txBody>
        </p:sp>
      </CT_Shape>
      <CT_Shape>
        <p:sp>
          <p:nvSpPr>
            <p:cNvPr id="35" name="Text 33"/>
            <p:cNvSpPr/>
            <p:nvPr/>
          </p:nvSpPr>
          <p:spPr>
            <a:xfrm>
              <a:off x="6492240" y="1234440"/>
              <a:ext cx="960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475569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云平台对接</a:t>
              </a:r>
              <a:endParaRPr lang="en-US" sz="1100" dirty="0"/>
            </a:p>
          </p:txBody>
        </p:sp>
      </CT_Shape>
      <CT_Shape>
        <p:sp>
          <p:nvSpPr>
            <p:cNvPr id="36" name="Text 34"/>
            <p:cNvSpPr/>
            <p:nvPr/>
          </p:nvSpPr>
          <p:spPr>
            <a:xfrm>
              <a:off x="6492240" y="1600200"/>
              <a:ext cx="9601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传统开发 + 联调</a:t>
              </a:r>
              <a:endParaRPr lang="en-US" sz="900" dirty="0"/>
            </a:p>
          </p:txBody>
        </p:sp>
      </CT_Shape>
      <CT_Shape>
        <p:sp>
          <p:nvSpPr>
            <p:cNvPr id="37" name="Text 35"/>
            <p:cNvSpPr/>
            <p:nvPr/>
          </p:nvSpPr>
          <p:spPr>
            <a:xfrm>
              <a:off x="7360920" y="1280160"/>
              <a:ext cx="1828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600" dirty="0">
                  <a:solidFill>
                    <a:srgbClr val="94A3B8"/>
                  </a:solidFill>
                </a:rPr>
                <a:t>›</a:t>
              </a:r>
              <a:endParaRPr lang="en-US" sz="1600" dirty="0"/>
            </a:p>
          </p:txBody>
        </p:sp>
      </CT_Shape>
      <CT_Shape>
        <p:sp>
          <p:nvSpPr>
            <p:cNvPr id="38" name="Shape 36"/>
            <p:cNvSpPr/>
            <p:nvPr/>
          </p:nvSpPr>
          <p:spPr>
            <a:xfrm>
              <a:off x="7498080" y="914400"/>
              <a:ext cx="960120" cy="1097280"/>
            </a:xfrm>
            <a:prstGeom prst="rect">
              <a:avLst/>
            </a:prstGeom>
            <a:solidFill>
              <a:srgbClr val="F1F5F9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39" name="Text 37"/>
            <p:cNvSpPr/>
            <p:nvPr/>
          </p:nvSpPr>
          <p:spPr>
            <a:xfrm>
              <a:off x="7498080" y="960120"/>
              <a:ext cx="960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08</a:t>
              </a:r>
              <a:endParaRPr lang="en-US" sz="1000" dirty="0"/>
            </a:p>
          </p:txBody>
        </p:sp>
      </CT_Shape>
      <CT_Shape>
        <p:sp>
          <p:nvSpPr>
            <p:cNvPr id="40" name="Text 38"/>
            <p:cNvSpPr/>
            <p:nvPr/>
          </p:nvSpPr>
          <p:spPr>
            <a:xfrm>
              <a:off x="7498080" y="1234440"/>
              <a:ext cx="960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475569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系统交付</a:t>
              </a:r>
              <a:endParaRPr lang="en-US" sz="1100" dirty="0"/>
            </a:p>
          </p:txBody>
        </p:sp>
      </CT_Shape>
      <CT_Shape>
        <p:sp>
          <p:nvSpPr>
            <p:cNvPr id="41" name="Text 39"/>
            <p:cNvSpPr/>
            <p:nvPr/>
          </p:nvSpPr>
          <p:spPr>
            <a:xfrm>
              <a:off x="7498080" y="1600200"/>
              <a:ext cx="9601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完整独立系统</a:t>
              </a:r>
              <a:endParaRPr lang="en-US" sz="900" dirty="0"/>
            </a:p>
          </p:txBody>
        </p:sp>
      </CT_Shape>
      <CT_Shape>
        <p:sp>
          <p:nvSpPr>
            <p:cNvPr id="42" name="Text 40"/>
            <p:cNvSpPr/>
            <p:nvPr/>
          </p:nvSpPr>
          <p:spPr>
            <a:xfrm>
              <a:off x="457200" y="219456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贯穿需求理解、架构设计、代码生成、接口文档全流程，传统团队仅负责云平台实现与联调</a:t>
              </a:r>
              <a:endParaRPr lang="en-US" sz="1200" dirty="0"/>
            </a:p>
          </p:txBody>
        </p:sp>
      </CT_Shap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 0"/>
            <p:cNvSpPr/>
            <p:nvPr/>
          </p:nvSpPr>
          <p:spPr>
            <a:xfrm>
              <a:off x="457200" y="274320"/>
              <a:ext cx="8229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研发成果总结</a:t>
              </a:r>
              <a:endParaRPr lang="en-US" sz="3200" dirty="0"/>
            </a:p>
          </p:txBody>
        </p:sp>
      </CT_Shape>
      <CT_Shape>
        <p:sp>
          <p:nvSpPr>
            <p:cNvPr id="3" name="Shape 1"/>
            <p:cNvSpPr/>
            <p:nvPr/>
          </p:nvSpPr>
          <p:spPr>
            <a:xfrm>
              <a:off x="731520" y="1097280"/>
              <a:ext cx="1828800" cy="1645920"/>
            </a:xfrm>
            <a:prstGeom prst="rect">
              <a:avLst/>
            </a:prstGeom>
            <a:solidFill>
              <a:srgbClr val="0B1F38"/>
            </a:solidFill>
            <a:ln w="12700">
              <a:solidFill>
                <a:srgbClr val="00D4FF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4" name="Text 2"/>
            <p:cNvSpPr/>
            <p:nvPr/>
          </p:nvSpPr>
          <p:spPr>
            <a:xfrm>
              <a:off x="731520" y="1371600"/>
              <a:ext cx="18288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48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7</a:t>
              </a:r>
              <a:endParaRPr lang="en-US" sz="4800" dirty="0"/>
            </a:p>
          </p:txBody>
        </p:sp>
      </CT_Shape>
      <CT_Shape>
        <p:sp>
          <p:nvSpPr>
            <p:cNvPr id="5" name="Text 3"/>
            <p:cNvSpPr/>
            <p:nvPr/>
          </p:nvSpPr>
          <p:spPr>
            <a:xfrm>
              <a:off x="731520" y="219456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图表模块</a:t>
              </a:r>
              <a:endParaRPr lang="en-US" sz="1400" dirty="0"/>
            </a:p>
          </p:txBody>
        </p:sp>
      </CT_Shape>
      <CT_Shape>
        <p:sp>
          <p:nvSpPr>
            <p:cNvPr id="6" name="Shape 4"/>
            <p:cNvSpPr/>
            <p:nvPr/>
          </p:nvSpPr>
          <p:spPr>
            <a:xfrm>
              <a:off x="2834640" y="1097280"/>
              <a:ext cx="1828800" cy="1645920"/>
            </a:xfrm>
            <a:prstGeom prst="rect">
              <a:avLst/>
            </a:prstGeom>
            <a:solidFill>
              <a:srgbClr val="0B1F38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7" name="Text 5"/>
            <p:cNvSpPr/>
            <p:nvPr/>
          </p:nvSpPr>
          <p:spPr>
            <a:xfrm>
              <a:off x="2834640" y="1371600"/>
              <a:ext cx="18288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4800" b="1" dirty="0">
                  <a:solidFill>
                    <a:srgbClr val="3B82F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8</a:t>
              </a:r>
              <a:endParaRPr lang="en-US" sz="4800" dirty="0"/>
            </a:p>
          </p:txBody>
        </p:sp>
      </CT_Shape>
      <CT_Shape>
        <p:sp>
          <p:nvSpPr>
            <p:cNvPr id="8" name="Text 6"/>
            <p:cNvSpPr/>
            <p:nvPr/>
          </p:nvSpPr>
          <p:spPr>
            <a:xfrm>
              <a:off x="2834640" y="219456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REST 接口</a:t>
              </a:r>
              <a:endParaRPr lang="en-US" sz="1400" dirty="0"/>
            </a:p>
          </p:txBody>
        </p:sp>
      </CT_Shape>
      <CT_Shape>
        <p:sp>
          <p:nvSpPr>
            <p:cNvPr id="9" name="Shape 7"/>
            <p:cNvSpPr/>
            <p:nvPr/>
          </p:nvSpPr>
          <p:spPr>
            <a:xfrm>
              <a:off x="4937760" y="1097280"/>
              <a:ext cx="1828800" cy="1645920"/>
            </a:xfrm>
            <a:prstGeom prst="rect">
              <a:avLst/>
            </a:prstGeom>
            <a:solidFill>
              <a:srgbClr val="0B1F38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10" name="Text 8"/>
            <p:cNvSpPr/>
            <p:nvPr/>
          </p:nvSpPr>
          <p:spPr>
            <a:xfrm>
              <a:off x="4937760" y="1371600"/>
              <a:ext cx="18288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4800" b="1" dirty="0">
                  <a:solidFill>
                    <a:srgbClr val="10B981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3</a:t>
              </a:r>
              <a:endParaRPr lang="en-US" sz="4800" dirty="0"/>
            </a:p>
          </p:txBody>
        </p:sp>
      </CT_Shape>
      <CT_Shape>
        <p:sp>
          <p:nvSpPr>
            <p:cNvPr id="11" name="Text 9"/>
            <p:cNvSpPr/>
            <p:nvPr/>
          </p:nvSpPr>
          <p:spPr>
            <a:xfrm>
              <a:off x="4937760" y="219456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云平台系统对接</a:t>
              </a:r>
              <a:endParaRPr lang="en-US" sz="1400" dirty="0"/>
            </a:p>
          </p:txBody>
        </p:sp>
      </CT_Shape>
      <CT_Shape>
        <p:sp>
          <p:nvSpPr>
            <p:cNvPr id="12" name="Shape 10"/>
            <p:cNvSpPr/>
            <p:nvPr/>
          </p:nvSpPr>
          <p:spPr>
            <a:xfrm>
              <a:off x="7040880" y="1097280"/>
              <a:ext cx="1828800" cy="1645920"/>
            </a:xfrm>
            <a:prstGeom prst="rect">
              <a:avLst/>
            </a:prstGeom>
            <a:solidFill>
              <a:srgbClr val="0B1F38"/>
            </a:solidFill>
            <a:ln w="12700">
              <a:solidFill>
                <a:srgbClr val="A855F7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13" name="Text 11"/>
            <p:cNvSpPr/>
            <p:nvPr/>
          </p:nvSpPr>
          <p:spPr>
            <a:xfrm>
              <a:off x="7040880" y="1371600"/>
              <a:ext cx="18288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4800" b="1" dirty="0">
                  <a:solidFill>
                    <a:srgbClr val="A855F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10x</a:t>
              </a:r>
              <a:endParaRPr lang="en-US" sz="4800" dirty="0"/>
            </a:p>
          </p:txBody>
        </p:sp>
      </CT_Shape>
      <CT_Shape>
        <p:sp>
          <p:nvSpPr>
            <p:cNvPr id="14" name="Text 12"/>
            <p:cNvSpPr/>
            <p:nvPr/>
          </p:nvSpPr>
          <p:spPr>
            <a:xfrm>
              <a:off x="7040880" y="219456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研发效率提升</a:t>
              </a:r>
              <a:endParaRPr lang="en-US" sz="1400" dirty="0"/>
            </a:p>
          </p:txBody>
        </p:sp>
      </CT_Shape>
      <CT_Shape>
        <p:sp>
          <p:nvSpPr>
            <p:cNvPr id="15" name="Text 13"/>
            <p:cNvSpPr/>
            <p:nvPr/>
          </p:nvSpPr>
          <p:spPr>
            <a:xfrm>
              <a:off x="457200" y="301752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600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不仅能写代码，更能理解需求、设计架构、生成文档、驱动全链路研发</a:t>
              </a:r>
              <a:endParaRPr lang="en-US" sz="1600" dirty="0"/>
            </a:p>
          </p:txBody>
        </p:sp>
      </CT_Shape>
      <CT_Shape>
        <p:sp>
          <p:nvSpPr>
            <p:cNvPr id="16" name="Text 14"/>
            <p:cNvSpPr/>
            <p:nvPr/>
          </p:nvSpPr>
          <p:spPr>
            <a:xfrm>
              <a:off x="457200" y="3657600"/>
              <a:ext cx="8229600" cy="1371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b="1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技术栈：</a:t>
              </a:r>
              <a:endParaRPr lang="en-US" sz="1200" dirty="0"/>
            </a:p>
            <a:p>
              <a:pPr indent="0" marL="0">
                <a:buNone/>
              </a:pPr>
              <a:r>
                <a:rPr lang="en-US" sz="12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前端 React 18 + Vite 5 + ECharts 5 + Tailwind | 后端 Spring Boot 3.2 + Java 17 | Mock 仿真 + 云平台 HTTP 双模式</a:t>
              </a:r>
              <a:endParaRPr lang="en-US" sz="1200" dirty="0"/>
            </a:p>
            <a:p>
              <a:pPr indent="0" marL="0">
                <a:buNone/>
              </a:pPr>
              <a:r>
                <a:rPr lang="en-US" sz="1200" b="1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能力：</a:t>
              </a:r>
              <a:endParaRPr lang="en-US" sz="1200" dirty="0"/>
            </a:p>
            <a:p>
              <a:pPr indent="0" marL="0">
                <a:buNone/>
              </a:pPr>
              <a:r>
                <a:rPr lang="en-US" sz="12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多模态理解（文档+截图）· 全栈代码生成 · 元数据提取与接口文档设计 · 截图驱动调试</a:t>
              </a:r>
              <a:endParaRPr lang="en-US" sz="1200" dirty="0"/>
            </a:p>
          </p:txBody>
        </p:sp>
      </CT_Shap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 0"/>
            <p:cNvSpPr/>
            <p:nvPr/>
          </p:nvSpPr>
          <p:spPr>
            <a:xfrm>
              <a:off x="457200" y="18288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28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扩展方向与适用场景</a:t>
              </a:r>
              <a:endParaRPr lang="en-US" sz="2800" dirty="0"/>
            </a:p>
          </p:txBody>
        </p:sp>
      </CT_Shape>
      <CT_Shape>
        <p:sp>
          <p:nvSpPr>
            <p:cNvPr id="3" name="Text 1"/>
            <p:cNvSpPr/>
            <p:nvPr/>
          </p:nvSpPr>
          <p:spPr>
            <a:xfrm>
              <a:off x="457200" y="685800"/>
              <a:ext cx="8229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本架构可复用到其他业务域，支撑快速孵化新系统</a:t>
              </a:r>
              <a:endParaRPr lang="en-US" sz="1200" dirty="0"/>
            </a:p>
          </p:txBody>
        </p:sp>
      </CT_Shape>
      <CT_Shape>
        <p:sp>
          <p:nvSpPr>
            <p:cNvPr id="4" name="Shape 2"/>
            <p:cNvSpPr/>
            <p:nvPr/>
          </p:nvSpPr>
          <p:spPr>
            <a:xfrm>
              <a:off x="457200" y="1097280"/>
              <a:ext cx="411480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5" name="Text 3"/>
            <p:cNvSpPr/>
            <p:nvPr/>
          </p:nvSpPr>
          <p:spPr>
            <a:xfrm>
              <a:off x="640080" y="132588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3B82F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多站点 / 多租户</a:t>
              </a:r>
              <a:endParaRPr lang="en-US" sz="1600" dirty="0"/>
            </a:p>
          </p:txBody>
        </p:sp>
      </CT_Shape>
      <CT_Shape>
        <p:sp>
          <p:nvSpPr>
            <p:cNvPr id="6" name="Text 4"/>
            <p:cNvSpPr/>
            <p:nvPr/>
          </p:nvSpPr>
          <p:spPr>
            <a:xfrm>
              <a:off x="640080" y="1828800"/>
              <a:ext cx="374904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按站点、区域、租户维度扩展筛选与权限</a:t>
              </a:r>
              <a:endParaRPr lang="en-US" sz="1200" dirty="0"/>
            </a:p>
          </p:txBody>
        </p:sp>
      </CT_Shape>
      <CT_Shape>
        <p:sp>
          <p:nvSpPr>
            <p:cNvPr id="7" name="Shape 5"/>
            <p:cNvSpPr/>
            <p:nvPr/>
          </p:nvSpPr>
          <p:spPr>
            <a:xfrm>
              <a:off x="4800600" y="1097280"/>
              <a:ext cx="411480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8" name="Text 6"/>
            <p:cNvSpPr/>
            <p:nvPr/>
          </p:nvSpPr>
          <p:spPr>
            <a:xfrm>
              <a:off x="4983480" y="132588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3B82F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实时大屏</a:t>
              </a:r>
              <a:endParaRPr lang="en-US" sz="1600" dirty="0"/>
            </a:p>
          </p:txBody>
        </p:sp>
      </CT_Shape>
      <CT_Shape>
        <p:sp>
          <p:nvSpPr>
            <p:cNvPr id="9" name="Text 7"/>
            <p:cNvSpPr/>
            <p:nvPr/>
          </p:nvSpPr>
          <p:spPr>
            <a:xfrm>
              <a:off x="4983480" y="1828800"/>
              <a:ext cx="374904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WebSocket 推送，秒级刷新订单与机器人状态</a:t>
              </a:r>
              <a:endParaRPr lang="en-US" sz="1200" dirty="0"/>
            </a:p>
          </p:txBody>
        </p:sp>
      </CT_Shape>
      <CT_Shape>
        <p:sp>
          <p:nvSpPr>
            <p:cNvPr id="10" name="Shape 8"/>
            <p:cNvSpPr/>
            <p:nvPr/>
          </p:nvSpPr>
          <p:spPr>
            <a:xfrm>
              <a:off x="457200" y="3108960"/>
              <a:ext cx="411480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11" name="Text 9"/>
            <p:cNvSpPr/>
            <p:nvPr/>
          </p:nvSpPr>
          <p:spPr>
            <a:xfrm>
              <a:off x="640080" y="333756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3B82F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移动端适配</a:t>
              </a:r>
              <a:endParaRPr lang="en-US" sz="1600" dirty="0"/>
            </a:p>
          </p:txBody>
        </p:sp>
      </CT_Shape>
      <CT_Shape>
        <p:sp>
          <p:nvSpPr>
            <p:cNvPr id="12" name="Text 10"/>
            <p:cNvSpPr/>
            <p:nvPr/>
          </p:nvSpPr>
          <p:spPr>
            <a:xfrm>
              <a:off x="640080" y="3840480"/>
              <a:ext cx="374904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响应式布局 + 触控优化，支持现场巡检</a:t>
              </a:r>
              <a:endParaRPr lang="en-US" sz="1200" dirty="0"/>
            </a:p>
          </p:txBody>
        </p:sp>
      </CT_Shape>
      <CT_Shape>
        <p:sp>
          <p:nvSpPr>
            <p:cNvPr id="13" name="Shape 11"/>
            <p:cNvSpPr/>
            <p:nvPr/>
          </p:nvSpPr>
          <p:spPr>
            <a:xfrm>
              <a:off x="4800600" y="3108960"/>
              <a:ext cx="411480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14" name="Text 12"/>
            <p:cNvSpPr/>
            <p:nvPr/>
          </p:nvSpPr>
          <p:spPr>
            <a:xfrm>
              <a:off x="4983480" y="333756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3B82F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数据导出</a:t>
              </a:r>
              <a:endParaRPr lang="en-US" sz="1600" dirty="0"/>
            </a:p>
          </p:txBody>
        </p:sp>
      </CT_Shape>
      <CT_Shape>
        <p:sp>
          <p:nvSpPr>
            <p:cNvPr id="15" name="Text 13"/>
            <p:cNvSpPr/>
            <p:nvPr/>
          </p:nvSpPr>
          <p:spPr>
            <a:xfrm>
              <a:off x="4983480" y="3840480"/>
              <a:ext cx="374904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Excel / PDF 报表导出，对接 BI 工具</a:t>
              </a:r>
              <a:endParaRPr lang="en-US" sz="1200" dirty="0"/>
            </a:p>
          </p:txBody>
        </p:sp>
      </CT_Shape>
      <CT_Shape>
        <p:sp>
          <p:nvSpPr>
            <p:cNvPr id="16" name="Text 14"/>
            <p:cNvSpPr/>
            <p:nvPr/>
          </p:nvSpPr>
          <p:spPr>
            <a:xfrm>
              <a:off x="457200" y="475488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300" dirty="0">
                  <a:solidFill>
                    <a:srgbClr val="475569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适用场景：运营看板、设备监控、订单分析、数据大屏等需快速交付的独立系统</a:t>
              </a:r>
              <a:endParaRPr lang="en-US" sz="1300" dirty="0"/>
            </a:p>
          </p:txBody>
        </p:sp>
      </CT_Shap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CT_Shape>
        <p:sp>
          <p:nvSpPr>
            <p:cNvPr id="2" name="Text 0"/>
            <p:cNvSpPr/>
            <p:nvPr/>
          </p:nvSpPr>
          <p:spPr>
            <a:xfrm>
              <a:off x="457200" y="27432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关键经验与落地建议</a:t>
              </a:r>
              <a:endParaRPr lang="en-US" sz="2800" dirty="0"/>
            </a:p>
          </p:txBody>
        </p:sp>
      </CT_Shape>
      <CT_Shape>
        <p:sp>
          <p:nvSpPr>
            <p:cNvPr id="3" name="Shape 1"/>
            <p:cNvSpPr/>
            <p:nvPr/>
          </p:nvSpPr>
          <p:spPr>
            <a:xfrm>
              <a:off x="457200" y="1097280"/>
              <a:ext cx="457200" cy="457200"/>
            </a:xfrm>
            <a:prstGeom prst="ellipse">
              <a:avLst/>
            </a:prstGeom>
            <a:solidFill>
              <a:srgbClr val="00D4FF">
                <a:alpha val="20000"/>
              </a:srgbClr>
            </a:solidFill>
            <a:ln w="12700">
              <a:solidFill>
                <a:srgbClr val="00D4FF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4" name="Text 2"/>
            <p:cNvSpPr/>
            <p:nvPr/>
          </p:nvSpPr>
          <p:spPr>
            <a:xfrm>
              <a:off x="457200" y="118872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1</a:t>
              </a:r>
              <a:endParaRPr lang="en-US" sz="1400" dirty="0"/>
            </a:p>
          </p:txBody>
        </p:sp>
      </CT_Shape>
      <CT_Shape>
        <p:sp>
          <p:nvSpPr>
            <p:cNvPr id="5" name="Text 3"/>
            <p:cNvSpPr/>
            <p:nvPr/>
          </p:nvSpPr>
          <p:spPr>
            <a:xfrm>
              <a:off x="1051560" y="105156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需求输入要明确</a:t>
              </a:r>
              <a:endParaRPr lang="en-US" sz="1400" dirty="0"/>
            </a:p>
          </p:txBody>
        </p:sp>
      </CT_Shape>
      <CT_Shape>
        <p:sp>
          <p:nvSpPr>
            <p:cNvPr id="6" name="Text 4"/>
            <p:cNvSpPr/>
            <p:nvPr/>
          </p:nvSpPr>
          <p:spPr>
            <a:xfrm>
              <a:off x="1051560" y="141732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文档 + 原型截图双输入，减少 AI 理解偏差</a:t>
              </a:r>
              <a:endParaRPr lang="en-US" sz="1200" dirty="0"/>
            </a:p>
          </p:txBody>
        </p:sp>
      </CT_Shape>
      <CT_Shape>
        <p:sp>
          <p:nvSpPr>
            <p:cNvPr id="7" name="Shape 5"/>
            <p:cNvSpPr/>
            <p:nvPr/>
          </p:nvSpPr>
          <p:spPr>
            <a:xfrm>
              <a:off x="457200" y="2286000"/>
              <a:ext cx="457200" cy="457200"/>
            </a:xfrm>
            <a:prstGeom prst="ellipse">
              <a:avLst/>
            </a:prstGeom>
            <a:solidFill>
              <a:srgbClr val="00D4FF">
                <a:alpha val="20000"/>
              </a:srgbClr>
            </a:solidFill>
            <a:ln w="12700">
              <a:solidFill>
                <a:srgbClr val="00D4FF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8" name="Text 6"/>
            <p:cNvSpPr/>
            <p:nvPr/>
          </p:nvSpPr>
          <p:spPr>
            <a:xfrm>
              <a:off x="457200" y="237744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2</a:t>
              </a:r>
              <a:endParaRPr lang="en-US" sz="1400" dirty="0"/>
            </a:p>
          </p:txBody>
        </p:sp>
      </CT_Shape>
      <CT_Shape>
        <p:sp>
          <p:nvSpPr>
            <p:cNvPr id="9" name="Text 7"/>
            <p:cNvSpPr/>
            <p:nvPr/>
          </p:nvSpPr>
          <p:spPr>
            <a:xfrm>
              <a:off x="1051560" y="224028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先 Mock 后对接</a:t>
              </a:r>
              <a:endParaRPr lang="en-US" sz="1400" dirty="0"/>
            </a:p>
          </p:txBody>
        </p:sp>
      </CT_Shape>
      <CT_Shape>
        <p:sp>
          <p:nvSpPr>
            <p:cNvPr id="10" name="Text 8"/>
            <p:cNvSpPr/>
            <p:nvPr/>
          </p:nvSpPr>
          <p:spPr>
            <a:xfrm>
              <a:off x="1051560" y="260604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本地仿真数据先行开发，云平台接口就绪后一键切换</a:t>
              </a:r>
              <a:endParaRPr lang="en-US" sz="1200" dirty="0"/>
            </a:p>
          </p:txBody>
        </p:sp>
      </CT_Shape>
      <CT_Shape>
        <p:sp>
          <p:nvSpPr>
            <p:cNvPr id="11" name="Shape 9"/>
            <p:cNvSpPr/>
            <p:nvPr/>
          </p:nvSpPr>
          <p:spPr>
            <a:xfrm>
              <a:off x="457200" y="3474720"/>
              <a:ext cx="457200" cy="457200"/>
            </a:xfrm>
            <a:prstGeom prst="ellipse">
              <a:avLst/>
            </a:prstGeom>
            <a:solidFill>
              <a:srgbClr val="00D4FF">
                <a:alpha val="20000"/>
              </a:srgbClr>
            </a:solidFill>
            <a:ln w="12700">
              <a:solidFill>
                <a:srgbClr val="00D4FF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12" name="Text 10"/>
            <p:cNvSpPr/>
            <p:nvPr/>
          </p:nvSpPr>
          <p:spPr>
            <a:xfrm>
              <a:off x="457200" y="356616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3</a:t>
              </a:r>
              <a:endParaRPr lang="en-US" sz="1400" dirty="0"/>
            </a:p>
          </p:txBody>
        </p:sp>
      </CT_Shape>
      <CT_Shape>
        <p:sp>
          <p:nvSpPr>
            <p:cNvPr id="13" name="Text 11"/>
            <p:cNvSpPr/>
            <p:nvPr/>
          </p:nvSpPr>
          <p:spPr>
            <a:xfrm>
              <a:off x="1051560" y="342900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接口契约前置</a:t>
              </a:r>
              <a:endParaRPr lang="en-US" sz="1400" dirty="0"/>
            </a:p>
          </p:txBody>
        </p:sp>
      </CT_Shape>
      <CT_Shape>
        <p:sp>
          <p:nvSpPr>
            <p:cNvPr id="14" name="Text 12"/>
            <p:cNvSpPr/>
            <p:nvPr/>
          </p:nvSpPr>
          <p:spPr>
            <a:xfrm>
              <a:off x="1051560" y="379476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从 DTO 提取元数据生成接口文档，降低联调成本</a:t>
              </a:r>
              <a:endParaRPr lang="en-US" sz="1200" dirty="0"/>
            </a:p>
          </p:txBody>
        </p:sp>
      </CT_Shape>
      <CT_Shape>
        <p:sp>
          <p:nvSpPr>
            <p:cNvPr id="15" name="Shape 13"/>
            <p:cNvSpPr/>
            <p:nvPr/>
          </p:nvSpPr>
          <p:spPr>
            <a:xfrm>
              <a:off x="457200" y="4663440"/>
              <a:ext cx="457200" cy="457200"/>
            </a:xfrm>
            <a:prstGeom prst="ellipse">
              <a:avLst/>
            </a:prstGeom>
            <a:solidFill>
              <a:srgbClr val="00D4FF">
                <a:alpha val="20000"/>
              </a:srgbClr>
            </a:solidFill>
            <a:ln w="12700">
              <a:solidFill>
                <a:srgbClr val="00D4FF"/>
              </a:solidFill>
              <a:prstDash val="solid"/>
            </a:ln>
          </p:spPr>
          <p:txBody>
            <a:bodyPr/>
            <a:p/>
          </p:txBody>
        </p:sp>
      </CT_Shape>
      <CT_Shape>
        <p:sp>
          <p:nvSpPr>
            <p:cNvPr id="16" name="Text 14"/>
            <p:cNvSpPr/>
            <p:nvPr/>
          </p:nvSpPr>
          <p:spPr>
            <a:xfrm>
              <a:off x="457200" y="475488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050F1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4</a:t>
              </a:r>
              <a:endParaRPr lang="en-US" sz="1400" dirty="0"/>
            </a:p>
          </p:txBody>
        </p:sp>
      </CT_Shape>
      <CT_Shape>
        <p:sp>
          <p:nvSpPr>
            <p:cNvPr id="17" name="Text 15"/>
            <p:cNvSpPr/>
            <p:nvPr/>
          </p:nvSpPr>
          <p:spPr>
            <a:xfrm>
              <a:off x="1051560" y="461772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截图驱动迭代</a:t>
              </a:r>
              <a:endParaRPr lang="en-US" sz="1400" dirty="0"/>
            </a:p>
          </p:txBody>
        </p:sp>
      </CT_Shape>
      <CT_Shape>
        <p:sp>
          <p:nvSpPr>
            <p:cNvPr id="18" name="Text 16"/>
            <p:cNvSpPr/>
            <p:nvPr/>
          </p:nvSpPr>
          <p:spPr>
            <a:xfrm>
              <a:off x="1051560" y="498348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marL="0">
                <a:buNone/>
              </a:pPr>
              <a:r>
                <a:rPr lang="en-US" sz="1200" dirty="0">
                  <a:solidFill>
                    <a:srgbClr val="94A3B8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问题截图反馈，AI 精准定位修复，分钟级闭环</a:t>
              </a:r>
              <a:endParaRPr lang="en-US" sz="1200" dirty="0"/>
            </a:p>
          </p:txBody>
        </p:sp>
      </CT_Shape>
      <CT_Shape>
        <p:sp>
          <p:nvSpPr>
            <p:cNvPr id="19" name="Text 17"/>
            <p:cNvSpPr/>
            <p:nvPr/>
          </p:nvSpPr>
          <p:spPr>
            <a:xfrm>
              <a:off x="457200" y="512064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1400" dirty="0">
                  <a:solidFill>
                    <a:srgbClr val="00D4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辅助研发不是替代人，而是放大人的能力 — 把精力集中在业务理解与质量把控上</a:t>
              </a:r>
              <a:endParaRPr lang="en-US" sz="1400" dirty="0"/>
            </a:p>
          </p:txBody>
        </p:sp>
      </CT_Shap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</Words>
  <Application>WPS 演示</Application>
  <PresentationFormat>On-screen Show (16:9)</PresentationFormat>
  <Paragraphs>30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微软雅黑</vt:lpstr>
      <vt:lpstr>Arial Unicode MS</vt:lpstr>
      <vt:lpstr>Calibri</vt:lpstr>
      <vt:lpstr>等线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Administrator</cp:lastModifiedBy>
  <cp:revision>3</cp:revision>
  <dcterms:created xsi:type="dcterms:W3CDTF">2026-03-09T04:55:00Z</dcterms:created>
  <dcterms:modified xsi:type="dcterms:W3CDTF">2026-03-10T03:29:43Z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FB30545797BB4793A308210B4971CAB0_12</vt:lpwstr>
  </property>
  <property fmtid="{D5CDD505-2E9C-101B-9397-08002B2CF9AE}" pid="3" name="KSOProductBuildVer">
    <vt:lpwstr>2052-12.1.0.20305</vt:lpwstr>
  </property>
</Properties>
</file>