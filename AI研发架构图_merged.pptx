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9"/>
    <p:sldId id="259" r:id="rId10"/>
    <p:sldId id="260" r:id="rId11"/>
    <p:sldId id="261" r:id="rId12"/>
    <p:sldId id="262" r:id="rId13"/>
    <p:sldId id="263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chargo_order\arch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关键路径说明  ·  AI 赋能全链路研发流程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85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移动储能机器人运营中心  ·  从需求到交付的完整独立系统研发过程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" cy="43891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6" name="Text 4"/>
          <p:cNvSpPr/>
          <p:nvPr/>
        </p:nvSpPr>
        <p:spPr>
          <a:xfrm>
            <a:off x="475488" y="11887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输入层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需求文档《订单分析报表.docx》+ 运营中心原型 UI 截图，两类资产共同作为 AI 的多模态输入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Text 7"/>
          <p:cNvSpPr/>
          <p:nvPr/>
        </p:nvSpPr>
        <p:spPr>
          <a:xfrm>
            <a:off x="475615" y="1783080"/>
            <a:ext cx="329374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02-04 ★ AI 分析 · 架构生成 · 全栈研发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3911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读取文档语义、识别原型布局，自动生成 Vite+React+Tailwind 前端工程及 Spring Boot MVC 后端工程，驱动实现 7 个图表模块、全局异常处理、CloudApiClient 抄象层等全栈功能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75488" y="237744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前后端接口联调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Vite Proxy 代理转发，统一 Result&lt;T&gt; 返回格式，前端 Axios 拦截器自动解包。站点选择、时间筛选通过 siteId/days 参数注入，实现全图表联动刷新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5" name="Text 13"/>
          <p:cNvSpPr/>
          <p:nvPr/>
        </p:nvSpPr>
        <p:spPr>
          <a:xfrm>
            <a:off x="475615" y="2994660"/>
            <a:ext cx="294703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★ AI 元数据提取 → 接口文档设计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22783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从 OrderRecord、RobotRecord 等 DTO 模型中提取字段定义、枚举値、计算逻辑，自动生成云平台接口文档，GET /api/orders、/api/robots、/api/sites 字段如实标注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54864" cy="43891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8" name="Text 16"/>
          <p:cNvSpPr/>
          <p:nvPr/>
        </p:nvSpPr>
        <p:spPr>
          <a:xfrm>
            <a:off x="475488" y="356616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云平台传统开发 + 联调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82219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云平台团队按接口文档实现订单管理、机器人调度、站点管理三个子系统，将 application.properties 中 cloud.api.mock 改为 false 即可无缝切换至真实数据源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75488" y="41605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系统交付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4165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完整独立运营中心看板系统上线，7 个图表模块、多站点筛选、全链路貯通，AI 全程将传统研发效率提升 6~10倍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标注为 AI 主驱动阶段；其余阶段为人工或云平台团队协同完成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运营大屏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深色科技风 Dashboard，7 个核心图表模块，支持站点筛选与时间维度分析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540351e3-545a-42fe-ba70-b3e079b6474a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38912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486400"/>
              <a:ext cx="8229600" cy="548640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532120"/>
              <a:ext cx="8046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核心指标：</a:t>
              </a:r>
              <a:pPr indent="0" marL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总订单 1,232 · 充电 42,807 kWh · 活跃机器人 45 | </a:t>
              </a:r>
              <a:pPr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完单率 70% | </a:t>
              </a:r>
              <a:pPr indent="0" marL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平均流程耗时 57 分钟 | 24h 热力图 + 用户忠诚度分析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前后端联调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 个 REST 接口并行请求，Vite 代理转发，统一 Result&lt;T&gt; 响应格式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d20e6e7b-9436-4917-bda7-1ee1bc040648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20624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303520"/>
              <a:ext cx="8229600" cy="594360"/>
            </a:xfrm>
            <a:prstGeom prst="rect">
              <a:avLst/>
            </a:prstGeom>
            <a:solidFill>
              <a:srgbClr val="DBEAFE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349240"/>
              <a:ext cx="8046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API 端点：</a:t>
              </a:r>
              <a:pPr indent="0" marL="0">
                <a:buNone/>
              </a:pPr>
              <a:r>
                <a:rPr lang="en-US" sz="1100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sites | stats | completion-rate | end-reasons | heatmap | process-time | cancel-analysis | user-frequency </a:t>
              </a:r>
              <a:pPr indent="0" marL="0">
                <a:buNone/>
              </a:pPr>
              <a:r>
                <a:rPr lang="en-US" sz="1100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· 公共参数 ?siteId=&amp;days=7 · 响应 200 OK · 平均耗时 &lt;100ms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开发环境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前后端一键启动，本地联调即开即用，Mock 数据支持离线演示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fef55879-7f09-4d06-9f91-50ac2bcf32f3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20624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303520"/>
              <a:ext cx="8229600" cy="594360"/>
            </a:xfrm>
            <a:prstGeom prst="rect">
              <a:avLst/>
            </a:prstGeom>
            <a:solidFill>
              <a:srgbClr val="D1FAE5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349240"/>
              <a:ext cx="8046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前端：</a:t>
              </a:r>
              <a:pPr indent="0" marL="0">
                <a:buNone/>
              </a:pPr>
              <a:r>
                <a:rPr lang="en-US" sz="1100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http://localhost:3000  (Vite + React)  |  </a:t>
              </a:r>
              <a:pPr indent="0" marL="0">
                <a:buNone/>
              </a:pPr>
              <a:r>
                <a:rPr lang="en-US" sz="1100" b="1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后端：</a:t>
              </a:r>
              <a:pPr indent="0" marL="0">
                <a:buNone/>
              </a:pPr>
              <a:r>
                <a:rPr lang="en-US" sz="1100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http://localhost:8080  (Spring Boot)  |  cloud.api.mock=true 使用仿真数据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27432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研发成果总结</a:t>
              </a:r>
              <a:endParaRPr lang="en-US" sz="3200" dirty="0"/>
            </a:p>
          </p:txBody>
        </p:sp>
      </CT_Shape>
      <CT_Shape>
        <p:sp>
          <p:nvSpPr>
            <p:cNvPr id="3" name="Shape 1"/>
            <p:cNvSpPr/>
            <p:nvPr/>
          </p:nvSpPr>
          <p:spPr>
            <a:xfrm>
              <a:off x="73152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73152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7</a:t>
              </a:r>
              <a:endParaRPr lang="en-US" sz="4800" dirty="0"/>
            </a:p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73152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图表模块</a:t>
              </a:r>
              <a:endParaRPr lang="en-US" sz="1400" dirty="0"/>
            </a:p>
          </p:txBody>
        </p:sp>
      </CT_Shape>
      <CT_Shape>
        <p:sp>
          <p:nvSpPr>
            <p:cNvPr id="6" name="Shape 4"/>
            <p:cNvSpPr/>
            <p:nvPr/>
          </p:nvSpPr>
          <p:spPr>
            <a:xfrm>
              <a:off x="283464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7" name="Text 5"/>
            <p:cNvSpPr/>
            <p:nvPr/>
          </p:nvSpPr>
          <p:spPr>
            <a:xfrm>
              <a:off x="283464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</a:t>
              </a:r>
              <a:endParaRPr lang="en-US" sz="4800" dirty="0"/>
            </a:p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283464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REST 接口</a:t>
              </a:r>
              <a:endParaRPr lang="en-US" sz="1400" dirty="0"/>
            </a:p>
          </p:txBody>
        </p:sp>
      </CT_Shape>
      <CT_Shape>
        <p:sp>
          <p:nvSpPr>
            <p:cNvPr id="9" name="Shape 7"/>
            <p:cNvSpPr/>
            <p:nvPr/>
          </p:nvSpPr>
          <p:spPr>
            <a:xfrm>
              <a:off x="493776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0" name="Text 8"/>
            <p:cNvSpPr/>
            <p:nvPr/>
          </p:nvSpPr>
          <p:spPr>
            <a:xfrm>
              <a:off x="493776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4800" dirty="0"/>
            </a:p>
          </p:txBody>
        </p:sp>
      </CT_Shape>
      <CT_Shape>
        <p:sp>
          <p:nvSpPr>
            <p:cNvPr id="11" name="Text 9"/>
            <p:cNvSpPr/>
            <p:nvPr/>
          </p:nvSpPr>
          <p:spPr>
            <a:xfrm>
              <a:off x="493776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云平台系统对接</a:t>
              </a:r>
              <a:endParaRPr lang="en-US" sz="1400" dirty="0"/>
            </a:p>
          </p:txBody>
        </p:sp>
      </CT_Shape>
      <CT_Shape>
        <p:sp>
          <p:nvSpPr>
            <p:cNvPr id="12" name="Shape 10"/>
            <p:cNvSpPr/>
            <p:nvPr/>
          </p:nvSpPr>
          <p:spPr>
            <a:xfrm>
              <a:off x="704088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A855F7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3" name="Text 11"/>
            <p:cNvSpPr/>
            <p:nvPr/>
          </p:nvSpPr>
          <p:spPr>
            <a:xfrm>
              <a:off x="704088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10x</a:t>
              </a:r>
              <a:endParaRPr lang="en-US" sz="4800" dirty="0"/>
            </a:p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704088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研发效率提升</a:t>
              </a:r>
              <a:endParaRPr lang="en-US" sz="1400" dirty="0"/>
            </a:p>
          </p:txBody>
        </p:sp>
      </CT_Shape>
      <CT_Shape>
        <p:sp>
          <p:nvSpPr>
            <p:cNvPr id="15" name="Text 13"/>
            <p:cNvSpPr/>
            <p:nvPr/>
          </p:nvSpPr>
          <p:spPr>
            <a:xfrm>
              <a:off x="457200" y="301752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不仅能写代码，更能理解需求、设计架构、生成文档、驱动全链路研发</a:t>
              </a:r>
              <a:endParaRPr lang="en-US" sz="1600" dirty="0"/>
            </a:p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3657600"/>
              <a:ext cx="8229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技术栈：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前端 React 18 + Vite 5 + ECharts 5 + Tailwind | 后端 Spring Boot 3.2 + Java 17 | Mock 仿真 + 云平台 HTTP 双模式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能力：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多模态理解（文档+截图）· 全栈代码生成 · 元数据提取与接口文档设计 · 截图驱动调试</a:t>
              </a:r>
              <a:endParaRPr lang="en-US" sz="1200" dirty="0"/>
            </a:p>
          </p:txBody>
        </p:sp>
      </CT_Shap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扩展方向与适用场景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本架构可复用到其他业务域，支撑快速孵化新系统</a:t>
              </a:r>
              <a:endParaRPr lang="en-US" sz="1200" dirty="0"/>
            </a:p>
          </p:txBody>
        </p:sp>
      </CT_Shape>
      <CT_Shape>
        <p:sp>
          <p:nvSpPr>
            <p:cNvPr id="4" name="Shape 2"/>
            <p:cNvSpPr/>
            <p:nvPr/>
          </p:nvSpPr>
          <p:spPr>
            <a:xfrm>
              <a:off x="457200" y="109728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640080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多站点 / 多租户</a:t>
              </a:r>
              <a:endParaRPr lang="en-US" sz="1600" dirty="0"/>
            </a:p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640080" y="182880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按站点、区域、租户维度扩展筛选与权限</a:t>
              </a:r>
              <a:endParaRPr lang="en-US" sz="1200" dirty="0"/>
            </a:p>
          </p:txBody>
        </p:sp>
      </CT_Shape>
      <CT_Shape>
        <p:sp>
          <p:nvSpPr>
            <p:cNvPr id="7" name="Shape 5"/>
            <p:cNvSpPr/>
            <p:nvPr/>
          </p:nvSpPr>
          <p:spPr>
            <a:xfrm>
              <a:off x="4800600" y="109728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4983480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实时大屏</a:t>
              </a:r>
              <a:endParaRPr lang="en-US" sz="1600" dirty="0"/>
            </a:p>
          </p:txBody>
        </p:sp>
      </CT_Shape>
      <CT_Shape>
        <p:sp>
          <p:nvSpPr>
            <p:cNvPr id="9" name="Text 7"/>
            <p:cNvSpPr/>
            <p:nvPr/>
          </p:nvSpPr>
          <p:spPr>
            <a:xfrm>
              <a:off x="4983480" y="182880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WebSocket 推送，秒级刷新订单与机器人状态</a:t>
              </a:r>
              <a:endParaRPr lang="en-US" sz="1200" dirty="0"/>
            </a:p>
          </p:txBody>
        </p:sp>
      </CT_Shape>
      <CT_Shape>
        <p:sp>
          <p:nvSpPr>
            <p:cNvPr id="10" name="Shape 8"/>
            <p:cNvSpPr/>
            <p:nvPr/>
          </p:nvSpPr>
          <p:spPr>
            <a:xfrm>
              <a:off x="457200" y="310896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1" name="Text 9"/>
            <p:cNvSpPr/>
            <p:nvPr/>
          </p:nvSpPr>
          <p:spPr>
            <a:xfrm>
              <a:off x="640080" y="33375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移动端适配</a:t>
              </a:r>
              <a:endParaRPr lang="en-US" sz="1600" dirty="0"/>
            </a:p>
          </p:txBody>
        </p:sp>
      </CT_Shape>
      <CT_Shape>
        <p:sp>
          <p:nvSpPr>
            <p:cNvPr id="12" name="Text 10"/>
            <p:cNvSpPr/>
            <p:nvPr/>
          </p:nvSpPr>
          <p:spPr>
            <a:xfrm>
              <a:off x="640080" y="384048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响应式布局 + 触控优化，支持现场巡检</a:t>
              </a:r>
              <a:endParaRPr lang="en-US" sz="1200" dirty="0"/>
            </a:p>
          </p:txBody>
        </p:sp>
      </CT_Shape>
      <CT_Shape>
        <p:sp>
          <p:nvSpPr>
            <p:cNvPr id="13" name="Shape 11"/>
            <p:cNvSpPr/>
            <p:nvPr/>
          </p:nvSpPr>
          <p:spPr>
            <a:xfrm>
              <a:off x="4800600" y="310896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4983480" y="33375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数据导出</a:t>
              </a:r>
              <a:endParaRPr lang="en-US" sz="1600" dirty="0"/>
            </a:p>
          </p:txBody>
        </p:sp>
      </CT_Shape>
      <CT_Shape>
        <p:sp>
          <p:nvSpPr>
            <p:cNvPr id="15" name="Text 13"/>
            <p:cNvSpPr/>
            <p:nvPr/>
          </p:nvSpPr>
          <p:spPr>
            <a:xfrm>
              <a:off x="4983480" y="384048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Excel / PDF 报表导出，对接 BI 工具</a:t>
              </a:r>
              <a:endParaRPr lang="en-US" sz="1200" dirty="0"/>
            </a:p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475488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适用场景：运营看板、设备监控、订单分析、数据大屏等需快速交付的独立系统</a:t>
              </a:r>
              <a:endParaRPr lang="en-US" sz="1300" dirty="0"/>
            </a:p>
          </p:txBody>
        </p:sp>
      </CT_Shap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27432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关键经验与落地建议</a:t>
              </a:r>
              <a:endParaRPr lang="en-US" sz="2800" dirty="0"/>
            </a:p>
          </p:txBody>
        </p:sp>
      </CT_Shape>
      <CT_Shape>
        <p:sp>
          <p:nvSpPr>
            <p:cNvPr id="3" name="Shape 1"/>
            <p:cNvSpPr/>
            <p:nvPr/>
          </p:nvSpPr>
          <p:spPr>
            <a:xfrm>
              <a:off x="457200" y="109728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457200" y="118872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400" dirty="0"/>
            </a:p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1051560" y="10515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需求输入要明确</a:t>
              </a:r>
              <a:endParaRPr lang="en-US" sz="1400" dirty="0"/>
            </a:p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1051560" y="141732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文档 + 原型截图双输入，减少 AI 理解偏差</a:t>
              </a:r>
              <a:endParaRPr lang="en-US" sz="1200" dirty="0"/>
            </a:p>
          </p:txBody>
        </p:sp>
      </CT_Shape>
      <CT_Shape>
        <p:sp>
          <p:nvSpPr>
            <p:cNvPr id="7" name="Shape 5"/>
            <p:cNvSpPr/>
            <p:nvPr/>
          </p:nvSpPr>
          <p:spPr>
            <a:xfrm>
              <a:off x="457200" y="228600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457200" y="23774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400" dirty="0"/>
            </a:p>
          </p:txBody>
        </p:sp>
      </CT_Shape>
      <CT_Shape>
        <p:sp>
          <p:nvSpPr>
            <p:cNvPr id="9" name="Text 7"/>
            <p:cNvSpPr/>
            <p:nvPr/>
          </p:nvSpPr>
          <p:spPr>
            <a:xfrm>
              <a:off x="1051560" y="224028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先 Mock 后对接</a:t>
              </a:r>
              <a:endParaRPr lang="en-US" sz="1400" dirty="0"/>
            </a:p>
          </p:txBody>
        </p:sp>
      </CT_Shape>
      <CT_Shape>
        <p:sp>
          <p:nvSpPr>
            <p:cNvPr id="10" name="Text 8"/>
            <p:cNvSpPr/>
            <p:nvPr/>
          </p:nvSpPr>
          <p:spPr>
            <a:xfrm>
              <a:off x="1051560" y="26060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本地仿真数据先行开发，云平台接口就绪后一键切换</a:t>
              </a:r>
              <a:endParaRPr lang="en-US" sz="1200" dirty="0"/>
            </a:p>
          </p:txBody>
        </p:sp>
      </CT_Shape>
      <CT_Shape>
        <p:sp>
          <p:nvSpPr>
            <p:cNvPr id="11" name="Shape 9"/>
            <p:cNvSpPr/>
            <p:nvPr/>
          </p:nvSpPr>
          <p:spPr>
            <a:xfrm>
              <a:off x="457200" y="347472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2" name="Text 10"/>
            <p:cNvSpPr/>
            <p:nvPr/>
          </p:nvSpPr>
          <p:spPr>
            <a:xfrm>
              <a:off x="457200" y="35661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400" dirty="0"/>
            </a:p>
          </p:txBody>
        </p:sp>
      </CT_Shape>
      <CT_Shape>
        <p:sp>
          <p:nvSpPr>
            <p:cNvPr id="13" name="Text 11"/>
            <p:cNvSpPr/>
            <p:nvPr/>
          </p:nvSpPr>
          <p:spPr>
            <a:xfrm>
              <a:off x="1051560" y="34290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接口契约前置</a:t>
              </a:r>
              <a:endParaRPr lang="en-US" sz="1400" dirty="0"/>
            </a:p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1051560" y="379476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从 DTO 提取元数据生成接口文档，降低联调成本</a:t>
              </a:r>
              <a:endParaRPr lang="en-US" sz="1200" dirty="0"/>
            </a:p>
          </p:txBody>
        </p:sp>
      </CT_Shape>
      <CT_Shape>
        <p:sp>
          <p:nvSpPr>
            <p:cNvPr id="15" name="Shape 13"/>
            <p:cNvSpPr/>
            <p:nvPr/>
          </p:nvSpPr>
          <p:spPr>
            <a:xfrm>
              <a:off x="457200" y="466344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475488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</a:t>
              </a:r>
              <a:endParaRPr lang="en-US" sz="1400" dirty="0"/>
            </a:p>
          </p:txBody>
        </p:sp>
      </CT_Shape>
      <CT_Shape>
        <p:sp>
          <p:nvSpPr>
            <p:cNvPr id="17" name="Text 15"/>
            <p:cNvSpPr/>
            <p:nvPr/>
          </p:nvSpPr>
          <p:spPr>
            <a:xfrm>
              <a:off x="1051560" y="46177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截图驱动迭代</a:t>
              </a:r>
              <a:endParaRPr lang="en-US" sz="1400" dirty="0"/>
            </a:p>
          </p:txBody>
        </p:sp>
      </CT_Shape>
      <CT_Shape>
        <p:sp>
          <p:nvSpPr>
            <p:cNvPr id="18" name="Text 16"/>
            <p:cNvSpPr/>
            <p:nvPr/>
          </p:nvSpPr>
          <p:spPr>
            <a:xfrm>
              <a:off x="1051560" y="498348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问题截图反馈，AI 精准定位修复，分钟级闭环</a:t>
              </a:r>
              <a:endParaRPr lang="en-US" sz="1200" dirty="0"/>
            </a:p>
          </p:txBody>
        </p:sp>
      </CT_Shape>
      <CT_Shape>
        <p:sp>
          <p:nvSpPr>
            <p:cNvPr id="19" name="Text 17"/>
            <p:cNvSpPr/>
            <p:nvPr/>
          </p:nvSpPr>
          <p:spPr>
            <a:xfrm>
              <a:off x="457200" y="512064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辅助研发不是替代人，而是放大人的能力 — 把精力集中在业务理解与质量把控上</a:t>
              </a:r>
              <a:endParaRPr lang="en-US" sz="1400" dirty="0"/>
            </a:p>
          </p:txBody>
        </p:sp>
      </CT_Shap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>On-screen Show (16:9)</PresentationFormat>
  <Paragraphs>30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Administrator</cp:lastModifiedBy>
  <cp:revision>3</cp:revision>
  <dcterms:created xsi:type="dcterms:W3CDTF">2026-03-09T04:55:00Z</dcterms:created>
  <dcterms:modified xsi:type="dcterms:W3CDTF">2026-03-10T03:29:43Z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FB30545797BB4793A308210B4971CAB0_12</vt:lpwstr>
  </property>
  <property fmtid="{D5CDD505-2E9C-101B-9397-08002B2CF9AE}" pid="3" name="KSOProductBuildVer">
    <vt:lpwstr>2052-12.1.0.20305</vt:lpwstr>
  </property>
</Properties>
</file>